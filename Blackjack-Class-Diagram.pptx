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
<Relationships xmlns="http://schemas.openxmlformats.org/package/2006/relationships">
<Relationship Id="rId1" Type="http://schemas.openxmlformats.org/officeDocument/2006/relationships/officeDocument" Target="ppt/presentation.xml"/>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</p:sldIdLst>
  <p:sldSz cx="12192000" cy="6858000" type="wide"/>
  <p:notesSz cx="6858000" cy="9144000"/>
  <p:defaultTextStyle>
    <a:defPPr>
      <a:defRPr lang="en-US"/>
    </a:defPPr>
  </p:defaultTextStyle>
</p:presentation>
</file>

<file path=ppt/_rels/presentation.xml.rels><?xml version="1.0" encoding="UTF-8" standalone="yes"?>
<Relationships xmlns="http://schemas.openxmlformats.org/package/2006/relationships">
<Relationship Id="rId1" Type="http://schemas.openxmlformats.org/officeDocument/2006/relationships/slideMaster" Target="slideMasters/slideMaster1.xml"/>
<Relationship Id="rId2" Type="http://schemas.openxmlformats.org/officeDocument/2006/relationships/slide" Target="slides/slide1.xml"/><Relationship Id="rId3" Type="http://schemas.openxmlformats.org/officeDocument/2006/relationships/slide" Target="slides/slide2.xml"/>
</Relationships>
</file>

<file path=ppt/slideLayouts/_rels/slideLayout1.xml.rels><?xml version="1.0" encoding="UTF-8" standalone="yes"?>
<Relationships xmlns="http://schemas.openxmlformats.org/package/2006/relationships">
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<Relationship Id="rId1" Type="http://schemas.openxmlformats.org/officeDocument/2006/relationships/slideLayout" Target="../slideLayouts/slideLayout1.xml"/>
<Relationship Id="rId2" Type="http://schemas.openxmlformats.org/officeDocument/2006/relationships/theme" Target="../theme/theme1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tx1="dk1" tx2="dk2" folHlink="hlink" hlink="folHlink"/>
  <p:sldLayoutIdLst>
    <p:sldLayoutId id="1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
<Relationship Id="rId1" Type="http://schemas.openxmlformats.org/officeDocument/2006/relationships/slideLayout" Target="../slideLayouts/slideLayout1.xml"/>
</Relationships>
</file>

<file path=ppt/slides/_rels/slide2.xml.rels><?xml version="1.0" encoding="UTF-8" standalone="yes"?>
<Relationships xmlns="http://schemas.openxmlformats.org/package/2006/relationships">
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502920" y="274320"/>
            <a:ext cx="11155680" cy="438912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38100" bIns="38100" anchor="ctr">
            <a:spAutoFit/>
          </a:bodyPr>
          <a:lstStyle/>
          <a:p>
            <a:pPr algn="l" marL="0" marR="0" lvl="0">
              <a:lnSpc>
                <a:spcPct val="100000"/>
              </a:lnSpc>
              <a:spcAft>
                <a:spcPts val="120"/>
              </a:spcAft>
              <a:buNone/>
            </a:pPr>
            <a:r>
              <a:rPr lang="en-US" sz="2600" b="1">
                <a:solidFill>
                  <a:srgbClr val="F7FAFF"/>
                </a:solidFill>
                <a:latin typeface="Aptos"/>
              </a:rPr>
              <a:t>Blackjack | System Overview</a:t>
            </a:r>
            <a:endParaRPr lang="en-US" sz="2600"/>
          </a:p>
        </p:txBody>
      </p:sp>
      <p:sp>
        <p:nvSpPr>
          <p:cNvPr id="3" name="Shape 3"/>
          <p:cNvSpPr/>
          <p:nvPr/>
        </p:nvSpPr>
        <p:spPr>
          <a:xfrm>
            <a:off x="530352" y="749808"/>
            <a:ext cx="1097280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38100" bIns="38100" anchor="ctr">
            <a:spAutoFit/>
          </a:bodyPr>
          <a:lstStyle/>
          <a:p>
            <a:pPr algn="l" marL="0" marR="0" lvl="0">
              <a:lnSpc>
                <a:spcPct val="100000"/>
              </a:lnSpc>
              <a:spcAft>
                <a:spcPts val="120"/>
              </a:spcAft>
              <a:buNone/>
            </a:pPr>
            <a:r>
              <a:rPr lang="en-US" sz="1100" b="0">
                <a:solidFill>
                  <a:srgbClr val="A8B6CC"/>
                </a:solidFill>
                <a:latin typeface="Aptos"/>
              </a:rPr>
              <a:t>Two main flows: play a round, and load or save player data.</a:t>
            </a:r>
            <a:endParaRPr lang="en-US" sz="1100"/>
          </a:p>
        </p:txBody>
      </p:sp>
      <p:sp>
        <p:nvSpPr>
          <p:cNvPr id="4" name="Shape 4"/>
          <p:cNvSpPr/>
          <p:nvPr/>
        </p:nvSpPr>
        <p:spPr>
          <a:xfrm>
            <a:off x="411480" y="2907792"/>
            <a:ext cx="3611880" cy="3246120"/>
          </a:xfrm>
          <a:prstGeom prst="roundRect">
            <a:avLst/>
          </a:prstGeom>
          <a:solidFill>
            <a:srgbClr val="10263A"/>
          </a:solidFill>
          <a:ln w="12700">
            <a:solidFill>
              <a:srgbClr val="31536E"/>
            </a:solidFill>
          </a:ln>
        </p:spPr>
        <p:txBody>
          <a:bodyPr wrap="square" lIns="91440" rIns="91440" tIns="38100" bIns="38100" anchor="ctr">
            <a:spAutoFit/>
          </a:bodyPr>
          <a:lstStyle/>
          <a:p>
            <a:endParaRPr lang="en-US"/>
          </a:p>
        </p:txBody>
      </p:sp>
      <p:sp>
        <p:nvSpPr>
          <p:cNvPr id="5" name="Shape 5"/>
          <p:cNvSpPr/>
          <p:nvPr/>
        </p:nvSpPr>
        <p:spPr>
          <a:xfrm>
            <a:off x="594360" y="3017520"/>
            <a:ext cx="324612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38100" bIns="38100" anchor="ctr">
            <a:spAutoFit/>
          </a:bodyPr>
          <a:lstStyle/>
          <a:p>
            <a:pPr algn="l" marL="0" marR="0" lvl="0">
              <a:lnSpc>
                <a:spcPct val="100000"/>
              </a:lnSpc>
              <a:spcAft>
                <a:spcPts val="120"/>
              </a:spcAft>
              <a:buNone/>
            </a:pPr>
            <a:r>
              <a:rPr lang="en-US" sz="1000" b="1">
                <a:solidFill>
                  <a:srgbClr val="31536E"/>
                </a:solidFill>
                <a:latin typeface="Aptos"/>
              </a:rPr>
              <a:t>USER INTERFACE</a:t>
            </a:r>
            <a:endParaRPr lang="en-US" sz="1000"/>
          </a:p>
        </p:txBody>
      </p:sp>
      <p:sp>
        <p:nvSpPr>
          <p:cNvPr id="6" name="Shape 6"/>
          <p:cNvSpPr/>
          <p:nvPr/>
        </p:nvSpPr>
        <p:spPr>
          <a:xfrm>
            <a:off x="594360" y="3383280"/>
            <a:ext cx="3246120" cy="10973"/>
          </a:xfrm>
          <a:prstGeom prst="rect">
            <a:avLst/>
          </a:prstGeom>
          <a:solidFill>
            <a:srgbClr val="31536E"/>
          </a:solidFill>
          <a:ln w="12700">
            <a:solidFill>
              <a:srgbClr val="31536E"/>
            </a:solidFill>
          </a:ln>
        </p:spPr>
        <p:txBody>
          <a:bodyPr wrap="square" lIns="91440" rIns="91440" tIns="38100" bIns="38100" anchor="ctr">
            <a:spAutoFit/>
          </a:bodyPr>
          <a:lstStyle/>
          <a:p>
            <a:endParaRPr lang="en-US"/>
          </a:p>
        </p:txBody>
      </p:sp>
      <p:sp>
        <p:nvSpPr>
          <p:cNvPr id="7" name="Shape 7"/>
          <p:cNvSpPr/>
          <p:nvPr/>
        </p:nvSpPr>
        <p:spPr>
          <a:xfrm>
            <a:off x="4288536" y="2907792"/>
            <a:ext cx="3611880" cy="3246120"/>
          </a:xfrm>
          <a:prstGeom prst="roundRect">
            <a:avLst/>
          </a:prstGeom>
          <a:solidFill>
            <a:srgbClr val="142A3D"/>
          </a:solidFill>
          <a:ln w="12700">
            <a:solidFill>
              <a:srgbClr val="31536E"/>
            </a:solidFill>
          </a:ln>
        </p:spPr>
        <p:txBody>
          <a:bodyPr wrap="square" lIns="91440" rIns="91440" tIns="38100" bIns="38100" anchor="ctr">
            <a:spAutoFit/>
          </a:bodyPr>
          <a:lstStyle/>
          <a:p>
            <a:endParaRPr lang="en-US"/>
          </a:p>
        </p:txBody>
      </p:sp>
      <p:sp>
        <p:nvSpPr>
          <p:cNvPr id="8" name="Shape 8"/>
          <p:cNvSpPr/>
          <p:nvPr/>
        </p:nvSpPr>
        <p:spPr>
          <a:xfrm>
            <a:off x="4471416" y="3017520"/>
            <a:ext cx="324612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38100" bIns="38100" anchor="ctr">
            <a:spAutoFit/>
          </a:bodyPr>
          <a:lstStyle/>
          <a:p>
            <a:pPr algn="l" marL="0" marR="0" lvl="0">
              <a:lnSpc>
                <a:spcPct val="100000"/>
              </a:lnSpc>
              <a:spcAft>
                <a:spcPts val="120"/>
              </a:spcAft>
              <a:buNone/>
            </a:pPr>
            <a:r>
              <a:rPr lang="en-US" sz="1000" b="1">
                <a:solidFill>
                  <a:srgbClr val="31536E"/>
                </a:solidFill>
                <a:latin typeface="Aptos"/>
              </a:rPr>
              <a:t>GAMEPLAY</a:t>
            </a:r>
            <a:endParaRPr lang="en-US" sz="1000"/>
          </a:p>
        </p:txBody>
      </p:sp>
      <p:sp>
        <p:nvSpPr>
          <p:cNvPr id="9" name="Shape 9"/>
          <p:cNvSpPr/>
          <p:nvPr/>
        </p:nvSpPr>
        <p:spPr>
          <a:xfrm>
            <a:off x="4471416" y="3383280"/>
            <a:ext cx="3246120" cy="10973"/>
          </a:xfrm>
          <a:prstGeom prst="rect">
            <a:avLst/>
          </a:prstGeom>
          <a:solidFill>
            <a:srgbClr val="31536E"/>
          </a:solidFill>
          <a:ln w="12700">
            <a:solidFill>
              <a:srgbClr val="31536E"/>
            </a:solidFill>
          </a:ln>
        </p:spPr>
        <p:txBody>
          <a:bodyPr wrap="square" lIns="91440" rIns="91440" tIns="38100" bIns="38100" anchor="ctr">
            <a:spAutoFit/>
          </a:bodyPr>
          <a:lstStyle/>
          <a:p>
            <a:endParaRPr lang="en-US"/>
          </a:p>
        </p:txBody>
      </p:sp>
      <p:sp>
        <p:nvSpPr>
          <p:cNvPr id="10" name="Shape 10"/>
          <p:cNvSpPr/>
          <p:nvPr/>
        </p:nvSpPr>
        <p:spPr>
          <a:xfrm>
            <a:off x="8165592" y="2907792"/>
            <a:ext cx="3611880" cy="3246120"/>
          </a:xfrm>
          <a:prstGeom prst="roundRect">
            <a:avLst/>
          </a:prstGeom>
          <a:solidFill>
            <a:srgbClr val="18283C"/>
          </a:solidFill>
          <a:ln w="12700">
            <a:solidFill>
              <a:srgbClr val="31536E"/>
            </a:solidFill>
          </a:ln>
        </p:spPr>
        <p:txBody>
          <a:bodyPr wrap="square" lIns="91440" rIns="91440" tIns="38100" bIns="38100" anchor="ctr">
            <a:spAutoFit/>
          </a:bodyPr>
          <a:lstStyle/>
          <a:p>
            <a:endParaRPr lang="en-US"/>
          </a:p>
        </p:txBody>
      </p:sp>
      <p:sp>
        <p:nvSpPr>
          <p:cNvPr id="11" name="Shape 11"/>
          <p:cNvSpPr/>
          <p:nvPr/>
        </p:nvSpPr>
        <p:spPr>
          <a:xfrm>
            <a:off x="8348472" y="3017520"/>
            <a:ext cx="324612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38100" bIns="38100" anchor="ctr">
            <a:spAutoFit/>
          </a:bodyPr>
          <a:lstStyle/>
          <a:p>
            <a:pPr algn="l" marL="0" marR="0" lvl="0">
              <a:lnSpc>
                <a:spcPct val="100000"/>
              </a:lnSpc>
              <a:spcAft>
                <a:spcPts val="120"/>
              </a:spcAft>
              <a:buNone/>
            </a:pPr>
            <a:r>
              <a:rPr lang="en-US" sz="1000" b="1">
                <a:solidFill>
                  <a:srgbClr val="31536E"/>
                </a:solidFill>
                <a:latin typeface="Aptos"/>
              </a:rPr>
              <a:t>PERSISTENCE</a:t>
            </a:r>
            <a:endParaRPr lang="en-US" sz="1000"/>
          </a:p>
        </p:txBody>
      </p:sp>
      <p:sp>
        <p:nvSpPr>
          <p:cNvPr id="12" name="Shape 12"/>
          <p:cNvSpPr/>
          <p:nvPr/>
        </p:nvSpPr>
        <p:spPr>
          <a:xfrm>
            <a:off x="8348472" y="3383280"/>
            <a:ext cx="3246120" cy="10973"/>
          </a:xfrm>
          <a:prstGeom prst="rect">
            <a:avLst/>
          </a:prstGeom>
          <a:solidFill>
            <a:srgbClr val="31536E"/>
          </a:solidFill>
          <a:ln w="12700">
            <a:solidFill>
              <a:srgbClr val="31536E"/>
            </a:solidFill>
          </a:ln>
        </p:spPr>
        <p:txBody>
          <a:bodyPr wrap="square" lIns="91440" rIns="91440" tIns="38100" bIns="38100" anchor="ctr">
            <a:spAutoFit/>
          </a:bodyPr>
          <a:lstStyle/>
          <a:p>
            <a:endParaRPr lang="en-US"/>
          </a:p>
        </p:txBody>
      </p:sp>
      <p:cxnSp>
        <p:nvCxnSpPr>
          <p:cNvPr id="13" name="Arrow 13"/>
          <p:cNvCxnSpPr/>
          <p:nvPr/>
        </p:nvCxnSpPr>
        <p:spPr>
          <a:xfrm>
            <a:off x="6099048" y="1554480"/>
            <a:ext cx="1" cy="512064"/>
          </a:xfrm>
          <a:prstGeom prst="line">
            <a:avLst/>
          </a:prstGeom>
          <a:ln w="19050" cap="rnd">
            <a:solidFill>
              <a:srgbClr val="80A9D8"/>
            </a:solidFill>
            <a:prstDash val="solid"/>
            <a:headEnd type="none"/>
            <a:tailEnd type="triangle"/>
          </a:ln>
        </p:spPr>
      </p:cxnSp>
      <p:cxnSp>
        <p:nvCxnSpPr>
          <p:cNvPr id="14" name="Arrow 14"/>
          <p:cNvCxnSpPr/>
          <p:nvPr/>
        </p:nvCxnSpPr>
        <p:spPr>
          <a:xfrm flipH="1">
            <a:off x="2221992" y="2679192"/>
            <a:ext cx="3877056" cy="228600"/>
          </a:xfrm>
          <a:prstGeom prst="line">
            <a:avLst/>
          </a:prstGeom>
          <a:ln w="19050" cap="rnd">
            <a:solidFill>
              <a:srgbClr val="64C8C1"/>
            </a:solidFill>
            <a:prstDash val="solid"/>
            <a:headEnd type="none"/>
            <a:tailEnd type="triangle"/>
          </a:ln>
        </p:spPr>
      </p:cxnSp>
      <p:cxnSp>
        <p:nvCxnSpPr>
          <p:cNvPr id="15" name="Arrow 15"/>
          <p:cNvCxnSpPr/>
          <p:nvPr/>
        </p:nvCxnSpPr>
        <p:spPr>
          <a:xfrm>
            <a:off x="6099048" y="2679192"/>
            <a:ext cx="1" cy="228600"/>
          </a:xfrm>
          <a:prstGeom prst="line">
            <a:avLst/>
          </a:prstGeom>
          <a:ln w="19050" cap="rnd">
            <a:solidFill>
              <a:srgbClr val="E6B86A"/>
            </a:solidFill>
            <a:prstDash val="solid"/>
            <a:headEnd type="none"/>
            <a:tailEnd type="triangle"/>
          </a:ln>
        </p:spPr>
      </p:cxnSp>
      <p:cxnSp>
        <p:nvCxnSpPr>
          <p:cNvPr id="16" name="Arrow 16"/>
          <p:cNvCxnSpPr/>
          <p:nvPr/>
        </p:nvCxnSpPr>
        <p:spPr>
          <a:xfrm>
            <a:off x="6099048" y="2679192"/>
            <a:ext cx="3877056" cy="228600"/>
          </a:xfrm>
          <a:prstGeom prst="line">
            <a:avLst/>
          </a:prstGeom>
          <a:ln w="19050" cap="rnd">
            <a:solidFill>
              <a:srgbClr val="A88BEA"/>
            </a:solidFill>
            <a:prstDash val="solid"/>
            <a:headEnd type="none"/>
            <a:tailEnd type="triangle"/>
          </a:ln>
        </p:spPr>
      </p:cxnSp>
      <p:cxnSp>
        <p:nvCxnSpPr>
          <p:cNvPr id="17" name="Arrow 17"/>
          <p:cNvCxnSpPr/>
          <p:nvPr/>
        </p:nvCxnSpPr>
        <p:spPr>
          <a:xfrm>
            <a:off x="2148840" y="4325112"/>
            <a:ext cx="1" cy="393192"/>
          </a:xfrm>
          <a:prstGeom prst="line">
            <a:avLst/>
          </a:prstGeom>
          <a:ln w="19050" cap="rnd">
            <a:solidFill>
              <a:srgbClr val="64C8C1"/>
            </a:solidFill>
            <a:prstDash val="solid"/>
            <a:headEnd type="none"/>
            <a:tailEnd type="triangle"/>
          </a:ln>
        </p:spPr>
      </p:cxnSp>
      <p:cxnSp>
        <p:nvCxnSpPr>
          <p:cNvPr id="18" name="Arrow 18"/>
          <p:cNvCxnSpPr/>
          <p:nvPr/>
        </p:nvCxnSpPr>
        <p:spPr>
          <a:xfrm flipH="1">
            <a:off x="5330952" y="4325112"/>
            <a:ext cx="768096" cy="374904"/>
          </a:xfrm>
          <a:prstGeom prst="line">
            <a:avLst/>
          </a:prstGeom>
          <a:ln w="19050" cap="rnd">
            <a:solidFill>
              <a:srgbClr val="E6B86A"/>
            </a:solidFill>
            <a:prstDash val="solid"/>
            <a:headEnd type="none"/>
            <a:tailEnd type="triangle"/>
          </a:ln>
        </p:spPr>
      </p:cxnSp>
      <p:cxnSp>
        <p:nvCxnSpPr>
          <p:cNvPr id="19" name="Arrow 19"/>
          <p:cNvCxnSpPr/>
          <p:nvPr/>
        </p:nvCxnSpPr>
        <p:spPr>
          <a:xfrm>
            <a:off x="6099048" y="4325112"/>
            <a:ext cx="813816" cy="374904"/>
          </a:xfrm>
          <a:prstGeom prst="line">
            <a:avLst/>
          </a:prstGeom>
          <a:ln w="19050" cap="rnd">
            <a:solidFill>
              <a:srgbClr val="E6B86A"/>
            </a:solidFill>
            <a:prstDash val="solid"/>
            <a:headEnd type="none"/>
            <a:tailEnd type="triangle"/>
          </a:ln>
        </p:spPr>
      </p:cxnSp>
      <p:cxnSp>
        <p:nvCxnSpPr>
          <p:cNvPr id="20" name="Arrow 20"/>
          <p:cNvCxnSpPr/>
          <p:nvPr/>
        </p:nvCxnSpPr>
        <p:spPr>
          <a:xfrm>
            <a:off x="9976104" y="4325112"/>
            <a:ext cx="1" cy="393192"/>
          </a:xfrm>
          <a:prstGeom prst="line">
            <a:avLst/>
          </a:prstGeom>
          <a:ln w="19050" cap="rnd">
            <a:solidFill>
              <a:srgbClr val="A88BEA"/>
            </a:solidFill>
            <a:prstDash val="solid"/>
            <a:headEnd type="none"/>
            <a:tailEnd type="triangle"/>
          </a:ln>
        </p:spPr>
      </p:cxnSp>
      <p:cxnSp>
        <p:nvCxnSpPr>
          <p:cNvPr id="21" name="Arrow 21"/>
          <p:cNvCxnSpPr/>
          <p:nvPr/>
        </p:nvCxnSpPr>
        <p:spPr>
          <a:xfrm>
            <a:off x="9976104" y="5504688"/>
            <a:ext cx="1" cy="237744"/>
          </a:xfrm>
          <a:prstGeom prst="line">
            <a:avLst/>
          </a:prstGeom>
          <a:ln w="19050" cap="rnd">
            <a:solidFill>
              <a:srgbClr val="A88BEA"/>
            </a:solidFill>
            <a:prstDash val="solid"/>
            <a:headEnd type="none"/>
            <a:tailEnd type="triangle"/>
          </a:ln>
        </p:spPr>
      </p:cxnSp>
      <p:sp>
        <p:nvSpPr>
          <p:cNvPr id="22" name="Shape 22"/>
          <p:cNvSpPr/>
          <p:nvPr/>
        </p:nvSpPr>
        <p:spPr>
          <a:xfrm>
            <a:off x="4910328" y="1051560"/>
            <a:ext cx="2377440" cy="502920"/>
          </a:xfrm>
          <a:prstGeom prst="roundRect">
            <a:avLst/>
          </a:prstGeom>
          <a:solidFill>
            <a:srgbClr val="20354D"/>
          </a:solidFill>
          <a:ln w="12700">
            <a:solidFill>
              <a:srgbClr val="8DB9E8"/>
            </a:solidFill>
          </a:ln>
        </p:spPr>
        <p:txBody>
          <a:bodyPr wrap="square" lIns="91440" rIns="91440" tIns="38100" bIns="38100" anchor="ctr">
            <a:spAutoFit/>
          </a:bodyPr>
          <a:lstStyle/>
          <a:p>
            <a:pPr algn="ctr" marL="0" marR="0" lvl="0">
              <a:lnSpc>
                <a:spcPct val="100000"/>
              </a:lnSpc>
              <a:spcAft>
                <a:spcPts val="120"/>
              </a:spcAft>
              <a:buNone/>
            </a:pPr>
            <a:r>
              <a:rPr lang="en-US" sz="1300" b="0">
                <a:solidFill>
                  <a:srgbClr val="F7FAFF"/>
                </a:solidFill>
                <a:latin typeface="Aptos"/>
              </a:rPr>
              <a:t>Program</a:t>
            </a:r>
            <a:endParaRPr lang="en-US" sz="1300"/>
          </a:p>
          <a:p>
            <a:pPr algn="ctr" marL="0" marR="0" lvl="0">
              <a:lnSpc>
                <a:spcPct val="100000"/>
              </a:lnSpc>
              <a:spcAft>
                <a:spcPts val="120"/>
              </a:spcAft>
              <a:buNone/>
            </a:pPr>
            <a:r>
              <a:rPr lang="en-US" sz="900" b="0">
                <a:solidFill>
                  <a:srgbClr val="C3CEDD"/>
                </a:solidFill>
                <a:latin typeface="Aptos"/>
              </a:rPr>
              <a:t>Entry point</a:t>
            </a:r>
            <a:endParaRPr lang="en-US" sz="900"/>
          </a:p>
        </p:txBody>
      </p:sp>
      <p:sp>
        <p:nvSpPr>
          <p:cNvPr id="23" name="Shape 23"/>
          <p:cNvSpPr/>
          <p:nvPr/>
        </p:nvSpPr>
        <p:spPr>
          <a:xfrm>
            <a:off x="4754880" y="2066544"/>
            <a:ext cx="2697480" cy="612648"/>
          </a:xfrm>
          <a:prstGeom prst="roundRect">
            <a:avLst/>
          </a:prstGeom>
          <a:solidFill>
            <a:srgbClr val="20354D"/>
          </a:solidFill>
          <a:ln w="12700">
            <a:solidFill>
              <a:srgbClr val="8DB9E8"/>
            </a:solidFill>
          </a:ln>
        </p:spPr>
        <p:txBody>
          <a:bodyPr wrap="square" lIns="91440" rIns="91440" tIns="38100" bIns="38100" anchor="ctr">
            <a:spAutoFit/>
          </a:bodyPr>
          <a:lstStyle/>
          <a:p>
            <a:pPr algn="ctr" marL="0" marR="0" lvl="0">
              <a:lnSpc>
                <a:spcPct val="100000"/>
              </a:lnSpc>
              <a:spcAft>
                <a:spcPts val="120"/>
              </a:spcAft>
              <a:buNone/>
            </a:pPr>
            <a:r>
              <a:rPr lang="en-US" sz="1300" b="0">
                <a:solidFill>
                  <a:srgbClr val="F7FAFF"/>
                </a:solidFill>
                <a:latin typeface="Aptos"/>
              </a:rPr>
              <a:t>Game</a:t>
            </a:r>
            <a:endParaRPr lang="en-US" sz="1300"/>
          </a:p>
          <a:p>
            <a:pPr algn="ctr" marL="0" marR="0" lvl="0">
              <a:lnSpc>
                <a:spcPct val="100000"/>
              </a:lnSpc>
              <a:spcAft>
                <a:spcPts val="120"/>
              </a:spcAft>
              <a:buNone/>
            </a:pPr>
            <a:r>
              <a:rPr lang="en-US" sz="900" b="0">
                <a:solidFill>
                  <a:srgbClr val="C3CEDD"/>
                </a:solidFill>
                <a:latin typeface="Aptos"/>
              </a:rPr>
              <a:t>Coordinates menu, rules, and rounds</a:t>
            </a:r>
            <a:endParaRPr lang="en-US" sz="900"/>
          </a:p>
        </p:txBody>
      </p:sp>
      <p:sp>
        <p:nvSpPr>
          <p:cNvPr id="24" name="Shape 24"/>
          <p:cNvSpPr/>
          <p:nvPr/>
        </p:nvSpPr>
        <p:spPr>
          <a:xfrm>
            <a:off x="731520" y="3502152"/>
            <a:ext cx="2971800" cy="822960"/>
          </a:xfrm>
          <a:prstGeom prst="roundRect">
            <a:avLst/>
          </a:prstGeom>
          <a:solidFill>
            <a:srgbClr val="173B4C"/>
          </a:solidFill>
          <a:ln w="12700">
            <a:solidFill>
              <a:srgbClr val="64C8C1"/>
            </a:solidFill>
          </a:ln>
        </p:spPr>
        <p:txBody>
          <a:bodyPr wrap="square" lIns="91440" rIns="91440" tIns="38100" bIns="38100" anchor="ctr">
            <a:spAutoFit/>
          </a:bodyPr>
          <a:lstStyle/>
          <a:p>
            <a:pPr algn="ctr" marL="0" marR="0" lvl="0">
              <a:lnSpc>
                <a:spcPct val="100000"/>
              </a:lnSpc>
              <a:spcAft>
                <a:spcPts val="120"/>
              </a:spcAft>
              <a:buNone/>
            </a:pPr>
            <a:r>
              <a:rPr lang="en-US" sz="1300" b="0">
                <a:solidFill>
                  <a:srgbClr val="F7FAFF"/>
                </a:solidFill>
                <a:latin typeface="Aptos"/>
              </a:rPr>
              <a:t>GameTableUI</a:t>
            </a:r>
            <a:endParaRPr lang="en-US" sz="1300"/>
          </a:p>
          <a:p>
            <a:pPr algn="ctr" marL="0" marR="0" lvl="0">
              <a:lnSpc>
                <a:spcPct val="100000"/>
              </a:lnSpc>
              <a:spcAft>
                <a:spcPts val="120"/>
              </a:spcAft>
              <a:buNone/>
            </a:pPr>
            <a:r>
              <a:rPr lang="en-US" sz="900" b="0">
                <a:solidFill>
                  <a:srgbClr val="C3CEDD"/>
                </a:solidFill>
                <a:latin typeface="Aptos"/>
              </a:rPr>
              <a:t>Betting, insurance, turns, and round-end choices</a:t>
            </a:r>
            <a:endParaRPr lang="en-US" sz="900"/>
          </a:p>
        </p:txBody>
      </p:sp>
      <p:sp>
        <p:nvSpPr>
          <p:cNvPr id="25" name="Shape 25"/>
          <p:cNvSpPr/>
          <p:nvPr/>
        </p:nvSpPr>
        <p:spPr>
          <a:xfrm>
            <a:off x="731520" y="4718304"/>
            <a:ext cx="2971800" cy="822960"/>
          </a:xfrm>
          <a:prstGeom prst="roundRect">
            <a:avLst/>
          </a:prstGeom>
          <a:solidFill>
            <a:srgbClr val="173B4C"/>
          </a:solidFill>
          <a:ln w="12700">
            <a:solidFill>
              <a:srgbClr val="64C8C1"/>
            </a:solidFill>
          </a:ln>
        </p:spPr>
        <p:txBody>
          <a:bodyPr wrap="square" lIns="91440" rIns="91440" tIns="38100" bIns="38100" anchor="ctr">
            <a:spAutoFit/>
          </a:bodyPr>
          <a:lstStyle/>
          <a:p>
            <a:pPr algn="ctr" marL="0" marR="0" lvl="0">
              <a:lnSpc>
                <a:spcPct val="100000"/>
              </a:lnSpc>
              <a:spcAft>
                <a:spcPts val="120"/>
              </a:spcAft>
              <a:buNone/>
            </a:pPr>
            <a:r>
              <a:rPr lang="en-US" sz="1300" b="0">
                <a:solidFill>
                  <a:srgbClr val="F7FAFF"/>
                </a:solidFill>
                <a:latin typeface="Aptos"/>
              </a:rPr>
              <a:t>ConsoleUi</a:t>
            </a:r>
            <a:endParaRPr lang="en-US" sz="1300"/>
          </a:p>
          <a:p>
            <a:pPr algn="ctr" marL="0" marR="0" lvl="0">
              <a:lnSpc>
                <a:spcPct val="100000"/>
              </a:lnSpc>
              <a:spcAft>
                <a:spcPts val="120"/>
              </a:spcAft>
              <a:buNone/>
            </a:pPr>
            <a:r>
              <a:rPr lang="en-US" sz="900" b="0">
                <a:solidFill>
                  <a:srgbClr val="C3CEDD"/>
                </a:solidFill>
                <a:latin typeface="Aptos"/>
              </a:rPr>
              <a:t>Renders menus, messages, and table screens</a:t>
            </a:r>
            <a:endParaRPr lang="en-US" sz="900"/>
          </a:p>
        </p:txBody>
      </p:sp>
      <p:sp>
        <p:nvSpPr>
          <p:cNvPr id="26" name="Shape 26"/>
          <p:cNvSpPr/>
          <p:nvPr/>
        </p:nvSpPr>
        <p:spPr>
          <a:xfrm>
            <a:off x="758952" y="5696712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38100" bIns="38100" anchor="ctr">
            <a:spAutoFit/>
          </a:bodyPr>
          <a:lstStyle/>
          <a:p>
            <a:pPr algn="l" marL="0" marR="0" lvl="0">
              <a:lnSpc>
                <a:spcPct val="100000"/>
              </a:lnSpc>
              <a:spcAft>
                <a:spcPts val="120"/>
              </a:spcAft>
              <a:buNone/>
            </a:pPr>
            <a:r>
              <a:rPr lang="en-US" sz="900" b="0">
                <a:solidFill>
                  <a:srgbClr val="A8B6CC"/>
                </a:solidFill>
                <a:latin typeface="Aptos"/>
              </a:rPr>
              <a:t>Uses BettingUI and CardRenderer</a:t>
            </a:r>
            <a:endParaRPr lang="en-US" sz="900"/>
          </a:p>
        </p:txBody>
      </p:sp>
      <p:sp>
        <p:nvSpPr>
          <p:cNvPr id="27" name="Shape 27"/>
          <p:cNvSpPr/>
          <p:nvPr/>
        </p:nvSpPr>
        <p:spPr>
          <a:xfrm>
            <a:off x="4608576" y="3502152"/>
            <a:ext cx="2971800" cy="822960"/>
          </a:xfrm>
          <a:prstGeom prst="roundRect">
            <a:avLst/>
          </a:prstGeom>
          <a:solidFill>
            <a:srgbClr val="443720"/>
          </a:solidFill>
          <a:ln w="12700">
            <a:solidFill>
              <a:srgbClr val="E6B86A"/>
            </a:solidFill>
          </a:ln>
        </p:spPr>
        <p:txBody>
          <a:bodyPr wrap="square" lIns="91440" rIns="91440" tIns="38100" bIns="38100" anchor="ctr">
            <a:spAutoFit/>
          </a:bodyPr>
          <a:lstStyle/>
          <a:p>
            <a:pPr algn="ctr" marL="0" marR="0" lvl="0">
              <a:lnSpc>
                <a:spcPct val="100000"/>
              </a:lnSpc>
              <a:spcAft>
                <a:spcPts val="120"/>
              </a:spcAft>
              <a:buNone/>
            </a:pPr>
            <a:r>
              <a:rPr lang="en-US" sz="1300" b="0">
                <a:solidFill>
                  <a:srgbClr val="F7FAFF"/>
                </a:solidFill>
                <a:latin typeface="Aptos"/>
              </a:rPr>
              <a:t>Round</a:t>
            </a:r>
            <a:endParaRPr lang="en-US" sz="1300"/>
          </a:p>
          <a:p>
            <a:pPr algn="ctr" marL="0" marR="0" lvl="0">
              <a:lnSpc>
                <a:spcPct val="100000"/>
              </a:lnSpc>
              <a:spcAft>
                <a:spcPts val="120"/>
              </a:spcAft>
              <a:buNone/>
            </a:pPr>
            <a:r>
              <a:rPr lang="en-US" sz="900" b="0">
                <a:solidFill>
                  <a:srgbClr val="C3CEDD"/>
                </a:solidFill>
                <a:latin typeface="Aptos"/>
              </a:rPr>
              <a:t>Deals cards, plays dealer turn, settles outcomes</a:t>
            </a:r>
            <a:endParaRPr lang="en-US" sz="900"/>
          </a:p>
        </p:txBody>
      </p:sp>
      <p:sp>
        <p:nvSpPr>
          <p:cNvPr id="28" name="Shape 28"/>
          <p:cNvSpPr/>
          <p:nvPr/>
        </p:nvSpPr>
        <p:spPr>
          <a:xfrm>
            <a:off x="4507992" y="4700016"/>
            <a:ext cx="1645920" cy="685800"/>
          </a:xfrm>
          <a:prstGeom prst="roundRect">
            <a:avLst/>
          </a:prstGeom>
          <a:solidFill>
            <a:srgbClr val="443720"/>
          </a:solidFill>
          <a:ln w="12700">
            <a:solidFill>
              <a:srgbClr val="E6B86A"/>
            </a:solidFill>
          </a:ln>
        </p:spPr>
        <p:txBody>
          <a:bodyPr wrap="square" lIns="91440" rIns="91440" tIns="38100" bIns="38100" anchor="ctr">
            <a:spAutoFit/>
          </a:bodyPr>
          <a:lstStyle/>
          <a:p>
            <a:pPr algn="ctr" marL="0" marR="0" lvl="0">
              <a:lnSpc>
                <a:spcPct val="100000"/>
              </a:lnSpc>
              <a:spcAft>
                <a:spcPts val="120"/>
              </a:spcAft>
              <a:buNone/>
            </a:pPr>
            <a:r>
              <a:rPr lang="en-US" sz="1100" b="0">
                <a:solidFill>
                  <a:srgbClr val="F7FAFF"/>
                </a:solidFill>
                <a:latin typeface="Aptos"/>
              </a:rPr>
              <a:t>Player + Dealer</a:t>
            </a:r>
            <a:endParaRPr lang="en-US" sz="1100"/>
          </a:p>
          <a:p>
            <a:pPr algn="ctr" marL="0" marR="0" lvl="0">
              <a:lnSpc>
                <a:spcPct val="100000"/>
              </a:lnSpc>
              <a:spcAft>
                <a:spcPts val="120"/>
              </a:spcAft>
              <a:buNone/>
            </a:pPr>
            <a:r>
              <a:rPr lang="en-US" sz="900" b="0">
                <a:solidFill>
                  <a:srgbClr val="C3CEDD"/>
                </a:solidFill>
                <a:latin typeface="Aptos"/>
              </a:rPr>
              <a:t>Participants</a:t>
            </a:r>
            <a:endParaRPr lang="en-US" sz="900"/>
          </a:p>
        </p:txBody>
      </p:sp>
      <p:sp>
        <p:nvSpPr>
          <p:cNvPr id="29" name="Shape 29"/>
          <p:cNvSpPr/>
          <p:nvPr/>
        </p:nvSpPr>
        <p:spPr>
          <a:xfrm>
            <a:off x="6089904" y="4700016"/>
            <a:ext cx="1645920" cy="685800"/>
          </a:xfrm>
          <a:prstGeom prst="roundRect">
            <a:avLst/>
          </a:prstGeom>
          <a:solidFill>
            <a:srgbClr val="443720"/>
          </a:solidFill>
          <a:ln w="12700">
            <a:solidFill>
              <a:srgbClr val="E6B86A"/>
            </a:solidFill>
          </a:ln>
        </p:spPr>
        <p:txBody>
          <a:bodyPr wrap="square" lIns="91440" rIns="91440" tIns="38100" bIns="38100" anchor="ctr">
            <a:spAutoFit/>
          </a:bodyPr>
          <a:lstStyle/>
          <a:p>
            <a:pPr algn="ctr" marL="0" marR="0" lvl="0">
              <a:lnSpc>
                <a:spcPct val="100000"/>
              </a:lnSpc>
              <a:spcAft>
                <a:spcPts val="120"/>
              </a:spcAft>
              <a:buNone/>
            </a:pPr>
            <a:r>
              <a:rPr lang="en-US" sz="1100" b="0">
                <a:solidFill>
                  <a:srgbClr val="F7FAFF"/>
                </a:solidFill>
                <a:latin typeface="Aptos"/>
              </a:rPr>
              <a:t>Deck + Hand</a:t>
            </a:r>
            <a:endParaRPr lang="en-US" sz="1100"/>
          </a:p>
          <a:p>
            <a:pPr algn="ctr" marL="0" marR="0" lvl="0">
              <a:lnSpc>
                <a:spcPct val="100000"/>
              </a:lnSpc>
              <a:spcAft>
                <a:spcPts val="120"/>
              </a:spcAft>
              <a:buNone/>
            </a:pPr>
            <a:r>
              <a:rPr lang="en-US" sz="900" b="0">
                <a:solidFill>
                  <a:srgbClr val="C3CEDD"/>
                </a:solidFill>
                <a:latin typeface="Aptos"/>
              </a:rPr>
              <a:t>Cards and scoring</a:t>
            </a:r>
            <a:endParaRPr lang="en-US" sz="900"/>
          </a:p>
        </p:txBody>
      </p:sp>
      <p:sp>
        <p:nvSpPr>
          <p:cNvPr id="30" name="Shape 30"/>
          <p:cNvSpPr/>
          <p:nvPr/>
        </p:nvSpPr>
        <p:spPr>
          <a:xfrm>
            <a:off x="4910328" y="5413248"/>
            <a:ext cx="2377440" cy="566928"/>
          </a:xfrm>
          <a:prstGeom prst="roundRect">
            <a:avLst/>
          </a:prstGeom>
          <a:solidFill>
            <a:srgbClr val="443720"/>
          </a:solidFill>
          <a:ln w="12700">
            <a:solidFill>
              <a:srgbClr val="E6B86A"/>
            </a:solidFill>
          </a:ln>
        </p:spPr>
        <p:txBody>
          <a:bodyPr wrap="square" lIns="91440" rIns="91440" tIns="38100" bIns="38100" anchor="ctr">
            <a:spAutoFit/>
          </a:bodyPr>
          <a:lstStyle/>
          <a:p>
            <a:pPr algn="ctr" marL="0" marR="0" lvl="0">
              <a:lnSpc>
                <a:spcPct val="100000"/>
              </a:lnSpc>
              <a:spcAft>
                <a:spcPts val="120"/>
              </a:spcAft>
              <a:buNone/>
            </a:pPr>
            <a:r>
              <a:rPr lang="en-US" sz="1100" b="0">
                <a:solidFill>
                  <a:srgbClr val="F7FAFF"/>
                </a:solidFill>
                <a:latin typeface="Aptos"/>
              </a:rPr>
              <a:t>RuleSet</a:t>
            </a:r>
            <a:endParaRPr lang="en-US" sz="1100"/>
          </a:p>
          <a:p>
            <a:pPr algn="ctr" marL="0" marR="0" lvl="0">
              <a:lnSpc>
                <a:spcPct val="100000"/>
              </a:lnSpc>
              <a:spcAft>
                <a:spcPts val="120"/>
              </a:spcAft>
              <a:buNone/>
            </a:pPr>
            <a:r>
              <a:rPr lang="en-US" sz="900" b="0">
                <a:solidFill>
                  <a:srgbClr val="C3CEDD"/>
                </a:solidFill>
                <a:latin typeface="Aptos"/>
              </a:rPr>
              <a:t>Shared house rules</a:t>
            </a:r>
            <a:endParaRPr lang="en-US" sz="900"/>
          </a:p>
        </p:txBody>
      </p:sp>
      <p:sp>
        <p:nvSpPr>
          <p:cNvPr id="31" name="Shape 31"/>
          <p:cNvSpPr/>
          <p:nvPr/>
        </p:nvSpPr>
        <p:spPr>
          <a:xfrm>
            <a:off x="8485632" y="3502152"/>
            <a:ext cx="2971800" cy="822960"/>
          </a:xfrm>
          <a:prstGeom prst="roundRect">
            <a:avLst/>
          </a:prstGeom>
          <a:solidFill>
            <a:srgbClr val="302A45"/>
          </a:solidFill>
          <a:ln w="12700">
            <a:solidFill>
              <a:srgbClr val="A88BEA"/>
            </a:solidFill>
          </a:ln>
        </p:spPr>
        <p:txBody>
          <a:bodyPr wrap="square" lIns="91440" rIns="91440" tIns="38100" bIns="38100" anchor="ctr">
            <a:spAutoFit/>
          </a:bodyPr>
          <a:lstStyle/>
          <a:p>
            <a:pPr algn="ctr" marL="0" marR="0" lvl="0">
              <a:lnSpc>
                <a:spcPct val="100000"/>
              </a:lnSpc>
              <a:spcAft>
                <a:spcPts val="120"/>
              </a:spcAft>
              <a:buNone/>
            </a:pPr>
            <a:r>
              <a:rPr lang="en-US" sz="1200" b="0">
                <a:solidFill>
                  <a:srgbClr val="F7FAFF"/>
                </a:solidFill>
                <a:latin typeface="Aptos"/>
              </a:rPr>
              <a:t>PlayerSessionService</a:t>
            </a:r>
            <a:endParaRPr lang="en-US" sz="1200"/>
          </a:p>
          <a:p>
            <a:pPr algn="ctr" marL="0" marR="0" lvl="0">
              <a:lnSpc>
                <a:spcPct val="100000"/>
              </a:lnSpc>
              <a:spcAft>
                <a:spcPts val="120"/>
              </a:spcAft>
              <a:buNone/>
            </a:pPr>
            <a:r>
              <a:rPr lang="en-US" sz="900" b="0">
                <a:solidFill>
                  <a:srgbClr val="C3CEDD"/>
                </a:solidFill>
                <a:latin typeface="Aptos"/>
              </a:rPr>
              <a:t>Creates, loads, saves, and deletes players</a:t>
            </a:r>
            <a:endParaRPr lang="en-US" sz="900"/>
          </a:p>
        </p:txBody>
      </p:sp>
      <p:sp>
        <p:nvSpPr>
          <p:cNvPr id="32" name="Shape 32"/>
          <p:cNvSpPr/>
          <p:nvPr/>
        </p:nvSpPr>
        <p:spPr>
          <a:xfrm>
            <a:off x="8485632" y="4718304"/>
            <a:ext cx="2971800" cy="786384"/>
          </a:xfrm>
          <a:prstGeom prst="roundRect">
            <a:avLst/>
          </a:prstGeom>
          <a:solidFill>
            <a:srgbClr val="302A45"/>
          </a:solidFill>
          <a:ln w="12700">
            <a:solidFill>
              <a:srgbClr val="A88BEA"/>
            </a:solidFill>
          </a:ln>
        </p:spPr>
        <p:txBody>
          <a:bodyPr wrap="square" lIns="91440" rIns="91440" tIns="38100" bIns="38100" anchor="ctr">
            <a:spAutoFit/>
          </a:bodyPr>
          <a:lstStyle/>
          <a:p>
            <a:pPr algn="ctr" marL="0" marR="0" lvl="0">
              <a:lnSpc>
                <a:spcPct val="100000"/>
              </a:lnSpc>
              <a:spcAft>
                <a:spcPts val="120"/>
              </a:spcAft>
              <a:buNone/>
            </a:pPr>
            <a:r>
              <a:rPr lang="en-US" sz="1300" b="0">
                <a:solidFill>
                  <a:srgbClr val="F7FAFF"/>
                </a:solidFill>
                <a:latin typeface="Aptos"/>
              </a:rPr>
              <a:t>GameStorage</a:t>
            </a:r>
            <a:endParaRPr lang="en-US" sz="1300"/>
          </a:p>
          <a:p>
            <a:pPr algn="ctr" marL="0" marR="0" lvl="0">
              <a:lnSpc>
                <a:spcPct val="100000"/>
              </a:lnSpc>
              <a:spcAft>
                <a:spcPts val="120"/>
              </a:spcAft>
              <a:buNone/>
            </a:pPr>
            <a:r>
              <a:rPr lang="en-US" sz="900" b="0">
                <a:solidFill>
                  <a:srgbClr val="C3CEDD"/>
                </a:solidFill>
                <a:latin typeface="Aptos"/>
              </a:rPr>
              <a:t>Persists player statistics</a:t>
            </a:r>
            <a:endParaRPr lang="en-US" sz="900"/>
          </a:p>
        </p:txBody>
      </p:sp>
      <p:sp>
        <p:nvSpPr>
          <p:cNvPr id="33" name="Shape 33"/>
          <p:cNvSpPr/>
          <p:nvPr/>
        </p:nvSpPr>
        <p:spPr>
          <a:xfrm>
            <a:off x="8485632" y="5742432"/>
            <a:ext cx="2971800" cy="310896"/>
          </a:xfrm>
          <a:prstGeom prst="roundRect">
            <a:avLst/>
          </a:prstGeom>
          <a:solidFill>
            <a:srgbClr val="302A45"/>
          </a:solidFill>
          <a:ln w="12700">
            <a:solidFill>
              <a:srgbClr val="A88BEA"/>
            </a:solidFill>
          </a:ln>
        </p:spPr>
        <p:txBody>
          <a:bodyPr wrap="square" lIns="91440" rIns="91440" tIns="38100" bIns="38100" anchor="ctr">
            <a:spAutoFit/>
          </a:bodyPr>
          <a:lstStyle/>
          <a:p>
            <a:pPr algn="ctr" marL="0" marR="0" lvl="0">
              <a:lnSpc>
                <a:spcPct val="100000"/>
              </a:lnSpc>
              <a:spcAft>
                <a:spcPts val="120"/>
              </a:spcAft>
              <a:buNone/>
            </a:pPr>
            <a:r>
              <a:rPr lang="en-US" sz="900" b="0">
                <a:solidFill>
                  <a:srgbClr val="F7FAFF"/>
                </a:solidFill>
                <a:latin typeface="Aptos"/>
              </a:rPr>
              <a:t>JSON results + readable TXT report</a:t>
            </a:r>
            <a:endParaRPr lang="en-US" sz="900"/>
          </a:p>
        </p:txBody>
      </p:sp>
      <p:sp>
        <p:nvSpPr>
          <p:cNvPr id="34" name="Shape 34"/>
          <p:cNvSpPr/>
          <p:nvPr/>
        </p:nvSpPr>
        <p:spPr>
          <a:xfrm>
            <a:off x="502920" y="6437376"/>
            <a:ext cx="1115568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38100" bIns="38100" anchor="ctr">
            <a:spAutoFit/>
          </a:bodyPr>
          <a:lstStyle/>
          <a:p>
            <a:pPr algn="l" marL="0" marR="0" lvl="0">
              <a:lnSpc>
                <a:spcPct val="100000"/>
              </a:lnSpc>
              <a:spcAft>
                <a:spcPts val="120"/>
              </a:spcAft>
              <a:buNone/>
            </a:pPr>
            <a:r>
              <a:rPr lang="en-US" sz="900" b="0">
                <a:solidFill>
                  <a:srgbClr val="A8B6CC"/>
                </a:solidFill>
                <a:latin typeface="Aptos"/>
              </a:rPr>
              <a:t>The Game passes one RuleSet to the Deck, Dealer, and Round so the same rules apply throughout a game.</a:t>
            </a:r>
            <a:endParaRPr lang="en-US" sz="9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502920" y="256032"/>
            <a:ext cx="11155680" cy="438912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38100" bIns="38100" anchor="ctr">
            <a:spAutoFit/>
          </a:bodyPr>
          <a:lstStyle/>
          <a:p>
            <a:pPr algn="l" marL="0" marR="0" lvl="0">
              <a:lnSpc>
                <a:spcPct val="100000"/>
              </a:lnSpc>
              <a:spcAft>
                <a:spcPts val="120"/>
              </a:spcAft>
              <a:buNone/>
            </a:pPr>
            <a:r>
              <a:rPr lang="en-US" sz="2500" b="1">
                <a:solidFill>
                  <a:srgbClr val="F7FAFF"/>
                </a:solidFill>
                <a:latin typeface="Aptos"/>
              </a:rPr>
              <a:t>Blackjack | Class Relationships</a:t>
            </a:r>
            <a:endParaRPr lang="en-US" sz="2500"/>
          </a:p>
        </p:txBody>
      </p:sp>
      <p:sp>
        <p:nvSpPr>
          <p:cNvPr id="3" name="Shape 3"/>
          <p:cNvSpPr/>
          <p:nvPr/>
        </p:nvSpPr>
        <p:spPr>
          <a:xfrm>
            <a:off x="530352" y="713232"/>
            <a:ext cx="10972800" cy="246888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38100" bIns="38100" anchor="ctr">
            <a:spAutoFit/>
          </a:bodyPr>
          <a:lstStyle/>
          <a:p>
            <a:pPr algn="l" marL="0" marR="0" lvl="0">
              <a:lnSpc>
                <a:spcPct val="100000"/>
              </a:lnSpc>
              <a:spcAft>
                <a:spcPts val="120"/>
              </a:spcAft>
              <a:buNone/>
            </a:pPr>
            <a:r>
              <a:rPr lang="en-US" sz="1000" b="0">
                <a:solidFill>
                  <a:srgbClr val="A8B6CC"/>
                </a:solidFill>
                <a:latin typeface="Aptos"/>
              </a:rPr>
              <a:t>Key classes grouped by responsibility; arrows show ownership or collaboration.</a:t>
            </a:r>
            <a:endParaRPr lang="en-US" sz="1000"/>
          </a:p>
        </p:txBody>
      </p:sp>
      <p:sp>
        <p:nvSpPr>
          <p:cNvPr id="4" name="Shape 4"/>
          <p:cNvSpPr/>
          <p:nvPr/>
        </p:nvSpPr>
        <p:spPr>
          <a:xfrm>
            <a:off x="347472" y="1234440"/>
            <a:ext cx="2761488" cy="5230368"/>
          </a:xfrm>
          <a:prstGeom prst="roundRect">
            <a:avLst/>
          </a:prstGeom>
          <a:solidFill>
            <a:srgbClr val="10263A"/>
          </a:solidFill>
          <a:ln w="12700">
            <a:solidFill>
              <a:srgbClr val="31536E"/>
            </a:solidFill>
          </a:ln>
        </p:spPr>
        <p:txBody>
          <a:bodyPr wrap="square" lIns="91440" rIns="91440" tIns="38100" bIns="38100" anchor="ctr">
            <a:spAutoFit/>
          </a:bodyPr>
          <a:lstStyle/>
          <a:p>
            <a:endParaRPr lang="en-US"/>
          </a:p>
        </p:txBody>
      </p:sp>
      <p:sp>
        <p:nvSpPr>
          <p:cNvPr id="5" name="Shape 5"/>
          <p:cNvSpPr/>
          <p:nvPr/>
        </p:nvSpPr>
        <p:spPr>
          <a:xfrm>
            <a:off x="530352" y="1344168"/>
            <a:ext cx="239572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38100" bIns="38100" anchor="ctr">
            <a:spAutoFit/>
          </a:bodyPr>
          <a:lstStyle/>
          <a:p>
            <a:pPr algn="l" marL="0" marR="0" lvl="0">
              <a:lnSpc>
                <a:spcPct val="100000"/>
              </a:lnSpc>
              <a:spcAft>
                <a:spcPts val="120"/>
              </a:spcAft>
              <a:buNone/>
            </a:pPr>
            <a:r>
              <a:rPr lang="en-US" sz="1000" b="1">
                <a:solidFill>
                  <a:srgbClr val="31536E"/>
                </a:solidFill>
                <a:latin typeface="Aptos"/>
              </a:rPr>
              <a:t>APPLICATION &amp; UI</a:t>
            </a:r>
            <a:endParaRPr lang="en-US" sz="1000"/>
          </a:p>
        </p:txBody>
      </p:sp>
      <p:sp>
        <p:nvSpPr>
          <p:cNvPr id="6" name="Shape 6"/>
          <p:cNvSpPr/>
          <p:nvPr/>
        </p:nvSpPr>
        <p:spPr>
          <a:xfrm>
            <a:off x="530352" y="1709928"/>
            <a:ext cx="2395728" cy="10973"/>
          </a:xfrm>
          <a:prstGeom prst="rect">
            <a:avLst/>
          </a:prstGeom>
          <a:solidFill>
            <a:srgbClr val="31536E"/>
          </a:solidFill>
          <a:ln w="12700">
            <a:solidFill>
              <a:srgbClr val="31536E"/>
            </a:solidFill>
          </a:ln>
        </p:spPr>
        <p:txBody>
          <a:bodyPr wrap="square" lIns="91440" rIns="91440" tIns="38100" bIns="38100" anchor="ctr">
            <a:spAutoFit/>
          </a:bodyPr>
          <a:lstStyle/>
          <a:p>
            <a:endParaRPr lang="en-US"/>
          </a:p>
        </p:txBody>
      </p:sp>
      <p:sp>
        <p:nvSpPr>
          <p:cNvPr id="7" name="Shape 7"/>
          <p:cNvSpPr/>
          <p:nvPr/>
        </p:nvSpPr>
        <p:spPr>
          <a:xfrm>
            <a:off x="3246120" y="1234440"/>
            <a:ext cx="2761488" cy="5230368"/>
          </a:xfrm>
          <a:prstGeom prst="roundRect">
            <a:avLst/>
          </a:prstGeom>
          <a:solidFill>
            <a:srgbClr val="142A3D"/>
          </a:solidFill>
          <a:ln w="12700">
            <a:solidFill>
              <a:srgbClr val="31536E"/>
            </a:solidFill>
          </a:ln>
        </p:spPr>
        <p:txBody>
          <a:bodyPr wrap="square" lIns="91440" rIns="91440" tIns="38100" bIns="38100" anchor="ctr">
            <a:spAutoFit/>
          </a:bodyPr>
          <a:lstStyle/>
          <a:p>
            <a:endParaRPr lang="en-US"/>
          </a:p>
        </p:txBody>
      </p:sp>
      <p:sp>
        <p:nvSpPr>
          <p:cNvPr id="8" name="Shape 8"/>
          <p:cNvSpPr/>
          <p:nvPr/>
        </p:nvSpPr>
        <p:spPr>
          <a:xfrm>
            <a:off x="3429000" y="1344168"/>
            <a:ext cx="239572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38100" bIns="38100" anchor="ctr">
            <a:spAutoFit/>
          </a:bodyPr>
          <a:lstStyle/>
          <a:p>
            <a:pPr algn="l" marL="0" marR="0" lvl="0">
              <a:lnSpc>
                <a:spcPct val="100000"/>
              </a:lnSpc>
              <a:spcAft>
                <a:spcPts val="120"/>
              </a:spcAft>
              <a:buNone/>
            </a:pPr>
            <a:r>
              <a:rPr lang="en-US" sz="1000" b="1">
                <a:solidFill>
                  <a:srgbClr val="31536E"/>
                </a:solidFill>
                <a:latin typeface="Aptos"/>
              </a:rPr>
              <a:t>GAMEPLAY</a:t>
            </a:r>
            <a:endParaRPr lang="en-US" sz="1000"/>
          </a:p>
        </p:txBody>
      </p:sp>
      <p:sp>
        <p:nvSpPr>
          <p:cNvPr id="9" name="Shape 9"/>
          <p:cNvSpPr/>
          <p:nvPr/>
        </p:nvSpPr>
        <p:spPr>
          <a:xfrm>
            <a:off x="3429000" y="1709928"/>
            <a:ext cx="2395728" cy="10973"/>
          </a:xfrm>
          <a:prstGeom prst="rect">
            <a:avLst/>
          </a:prstGeom>
          <a:solidFill>
            <a:srgbClr val="31536E"/>
          </a:solidFill>
          <a:ln w="12700">
            <a:solidFill>
              <a:srgbClr val="31536E"/>
            </a:solidFill>
          </a:ln>
        </p:spPr>
        <p:txBody>
          <a:bodyPr wrap="square" lIns="91440" rIns="91440" tIns="38100" bIns="38100" anchor="ctr">
            <a:spAutoFit/>
          </a:bodyPr>
          <a:lstStyle/>
          <a:p>
            <a:endParaRPr lang="en-US"/>
          </a:p>
        </p:txBody>
      </p:sp>
      <p:sp>
        <p:nvSpPr>
          <p:cNvPr id="10" name="Shape 10"/>
          <p:cNvSpPr/>
          <p:nvPr/>
        </p:nvSpPr>
        <p:spPr>
          <a:xfrm>
            <a:off x="6144768" y="1234440"/>
            <a:ext cx="2761488" cy="5230368"/>
          </a:xfrm>
          <a:prstGeom prst="roundRect">
            <a:avLst/>
          </a:prstGeom>
          <a:solidFill>
            <a:srgbClr val="18332F"/>
          </a:solidFill>
          <a:ln w="12700">
            <a:solidFill>
              <a:srgbClr val="315C52"/>
            </a:solidFill>
          </a:ln>
        </p:spPr>
        <p:txBody>
          <a:bodyPr wrap="square" lIns="91440" rIns="91440" tIns="38100" bIns="38100" anchor="ctr">
            <a:spAutoFit/>
          </a:bodyPr>
          <a:lstStyle/>
          <a:p>
            <a:endParaRPr lang="en-US"/>
          </a:p>
        </p:txBody>
      </p:sp>
      <p:sp>
        <p:nvSpPr>
          <p:cNvPr id="11" name="Shape 11"/>
          <p:cNvSpPr/>
          <p:nvPr/>
        </p:nvSpPr>
        <p:spPr>
          <a:xfrm>
            <a:off x="6327648" y="1344168"/>
            <a:ext cx="239572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38100" bIns="38100" anchor="ctr">
            <a:spAutoFit/>
          </a:bodyPr>
          <a:lstStyle/>
          <a:p>
            <a:pPr algn="l" marL="0" marR="0" lvl="0">
              <a:lnSpc>
                <a:spcPct val="100000"/>
              </a:lnSpc>
              <a:spcAft>
                <a:spcPts val="120"/>
              </a:spcAft>
              <a:buNone/>
            </a:pPr>
            <a:r>
              <a:rPr lang="en-US" sz="1000" b="1">
                <a:solidFill>
                  <a:srgbClr val="315C52"/>
                </a:solidFill>
                <a:latin typeface="Aptos"/>
              </a:rPr>
              <a:t>CARDS</a:t>
            </a:r>
            <a:endParaRPr lang="en-US" sz="1000"/>
          </a:p>
        </p:txBody>
      </p:sp>
      <p:sp>
        <p:nvSpPr>
          <p:cNvPr id="12" name="Shape 12"/>
          <p:cNvSpPr/>
          <p:nvPr/>
        </p:nvSpPr>
        <p:spPr>
          <a:xfrm>
            <a:off x="6327648" y="1709928"/>
            <a:ext cx="2395728" cy="10973"/>
          </a:xfrm>
          <a:prstGeom prst="rect">
            <a:avLst/>
          </a:prstGeom>
          <a:solidFill>
            <a:srgbClr val="315C52"/>
          </a:solidFill>
          <a:ln w="12700">
            <a:solidFill>
              <a:srgbClr val="315C52"/>
            </a:solidFill>
          </a:ln>
        </p:spPr>
        <p:txBody>
          <a:bodyPr wrap="square" lIns="91440" rIns="91440" tIns="38100" bIns="38100" anchor="ctr">
            <a:spAutoFit/>
          </a:bodyPr>
          <a:lstStyle/>
          <a:p>
            <a:endParaRPr lang="en-US"/>
          </a:p>
        </p:txBody>
      </p:sp>
      <p:sp>
        <p:nvSpPr>
          <p:cNvPr id="13" name="Shape 13"/>
          <p:cNvSpPr/>
          <p:nvPr/>
        </p:nvSpPr>
        <p:spPr>
          <a:xfrm>
            <a:off x="9043416" y="1234440"/>
            <a:ext cx="2761488" cy="5230368"/>
          </a:xfrm>
          <a:prstGeom prst="roundRect">
            <a:avLst/>
          </a:prstGeom>
          <a:solidFill>
            <a:srgbClr val="29243D"/>
          </a:solidFill>
          <a:ln w="12700">
            <a:solidFill>
              <a:srgbClr val="544872"/>
            </a:solidFill>
          </a:ln>
        </p:spPr>
        <p:txBody>
          <a:bodyPr wrap="square" lIns="91440" rIns="91440" tIns="38100" bIns="38100" anchor="ctr">
            <a:spAutoFit/>
          </a:bodyPr>
          <a:lstStyle/>
          <a:p>
            <a:endParaRPr lang="en-US"/>
          </a:p>
        </p:txBody>
      </p:sp>
      <p:sp>
        <p:nvSpPr>
          <p:cNvPr id="14" name="Shape 14"/>
          <p:cNvSpPr/>
          <p:nvPr/>
        </p:nvSpPr>
        <p:spPr>
          <a:xfrm>
            <a:off x="9226296" y="1344168"/>
            <a:ext cx="239572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38100" bIns="38100" anchor="ctr">
            <a:spAutoFit/>
          </a:bodyPr>
          <a:lstStyle/>
          <a:p>
            <a:pPr algn="l" marL="0" marR="0" lvl="0">
              <a:lnSpc>
                <a:spcPct val="100000"/>
              </a:lnSpc>
              <a:spcAft>
                <a:spcPts val="120"/>
              </a:spcAft>
              <a:buNone/>
            </a:pPr>
            <a:r>
              <a:rPr lang="en-US" sz="1000" b="1">
                <a:solidFill>
                  <a:srgbClr val="544872"/>
                </a:solidFill>
                <a:latin typeface="Aptos"/>
              </a:rPr>
              <a:t>RULES &amp; STORAGE</a:t>
            </a:r>
            <a:endParaRPr lang="en-US" sz="1000"/>
          </a:p>
        </p:txBody>
      </p:sp>
      <p:sp>
        <p:nvSpPr>
          <p:cNvPr id="15" name="Shape 15"/>
          <p:cNvSpPr/>
          <p:nvPr/>
        </p:nvSpPr>
        <p:spPr>
          <a:xfrm>
            <a:off x="9226296" y="1709928"/>
            <a:ext cx="2395728" cy="10973"/>
          </a:xfrm>
          <a:prstGeom prst="rect">
            <a:avLst/>
          </a:prstGeom>
          <a:solidFill>
            <a:srgbClr val="544872"/>
          </a:solidFill>
          <a:ln w="12700">
            <a:solidFill>
              <a:srgbClr val="544872"/>
            </a:solidFill>
          </a:ln>
        </p:spPr>
        <p:txBody>
          <a:bodyPr wrap="square" lIns="91440" rIns="91440" tIns="38100" bIns="38100" anchor="ctr">
            <a:spAutoFit/>
          </a:bodyPr>
          <a:lstStyle/>
          <a:p>
            <a:endParaRPr lang="en-US"/>
          </a:p>
        </p:txBody>
      </p:sp>
      <p:cxnSp>
        <p:nvCxnSpPr>
          <p:cNvPr id="16" name="Arrow 16"/>
          <p:cNvCxnSpPr/>
          <p:nvPr/>
        </p:nvCxnSpPr>
        <p:spPr>
          <a:xfrm>
            <a:off x="1728216" y="2258568"/>
            <a:ext cx="1" cy="274320"/>
          </a:xfrm>
          <a:prstGeom prst="line">
            <a:avLst/>
          </a:prstGeom>
          <a:ln w="19050" cap="rnd">
            <a:solidFill>
              <a:srgbClr val="8DB9E8"/>
            </a:solidFill>
            <a:prstDash val="solid"/>
            <a:headEnd type="none"/>
            <a:tailEnd type="triangle"/>
          </a:ln>
        </p:spPr>
      </p:cxnSp>
      <p:cxnSp>
        <p:nvCxnSpPr>
          <p:cNvPr id="17" name="Arrow 17"/>
          <p:cNvCxnSpPr/>
          <p:nvPr/>
        </p:nvCxnSpPr>
        <p:spPr>
          <a:xfrm>
            <a:off x="1728216" y="3035808"/>
            <a:ext cx="1" cy="274320"/>
          </a:xfrm>
          <a:prstGeom prst="line">
            <a:avLst/>
          </a:prstGeom>
          <a:ln w="19050" cap="rnd">
            <a:solidFill>
              <a:srgbClr val="8DB9E8"/>
            </a:solidFill>
            <a:prstDash val="solid"/>
            <a:headEnd type="none"/>
            <a:tailEnd type="triangle"/>
          </a:ln>
        </p:spPr>
      </p:cxnSp>
      <p:cxnSp>
        <p:nvCxnSpPr>
          <p:cNvPr id="18" name="Arrow 18"/>
          <p:cNvCxnSpPr/>
          <p:nvPr/>
        </p:nvCxnSpPr>
        <p:spPr>
          <a:xfrm flipV="1">
            <a:off x="2926080" y="2011680"/>
            <a:ext cx="502920" cy="777240"/>
          </a:xfrm>
          <a:prstGeom prst="line">
            <a:avLst/>
          </a:prstGeom>
          <a:ln w="19050" cap="rnd">
            <a:solidFill>
              <a:srgbClr val="E6B86A"/>
            </a:solidFill>
            <a:prstDash val="solid"/>
            <a:headEnd type="none"/>
            <a:tailEnd type="triangle"/>
          </a:ln>
        </p:spPr>
      </p:cxnSp>
      <p:cxnSp>
        <p:nvCxnSpPr>
          <p:cNvPr id="19" name="Arrow 19"/>
          <p:cNvCxnSpPr/>
          <p:nvPr/>
        </p:nvCxnSpPr>
        <p:spPr>
          <a:xfrm>
            <a:off x="5824728" y="2011680"/>
            <a:ext cx="502920" cy="1"/>
          </a:xfrm>
          <a:prstGeom prst="line">
            <a:avLst/>
          </a:prstGeom>
          <a:ln w="19050" cap="rnd">
            <a:solidFill>
              <a:srgbClr val="64C8C1"/>
            </a:solidFill>
            <a:prstDash val="solid"/>
            <a:headEnd type="none"/>
            <a:tailEnd type="triangle"/>
          </a:ln>
        </p:spPr>
      </p:cxnSp>
      <p:cxnSp>
        <p:nvCxnSpPr>
          <p:cNvPr id="20" name="Arrow 20"/>
          <p:cNvCxnSpPr/>
          <p:nvPr/>
        </p:nvCxnSpPr>
        <p:spPr>
          <a:xfrm>
            <a:off x="5824728" y="2788920"/>
            <a:ext cx="502920" cy="1"/>
          </a:xfrm>
          <a:prstGeom prst="line">
            <a:avLst/>
          </a:prstGeom>
          <a:ln w="19050" cap="rnd">
            <a:solidFill>
              <a:srgbClr val="64C8C1"/>
            </a:solidFill>
            <a:prstDash val="solid"/>
            <a:headEnd type="none"/>
            <a:tailEnd type="triangle"/>
          </a:ln>
        </p:spPr>
      </p:cxnSp>
      <p:cxnSp>
        <p:nvCxnSpPr>
          <p:cNvPr id="21" name="Arrow 21"/>
          <p:cNvCxnSpPr/>
          <p:nvPr/>
        </p:nvCxnSpPr>
        <p:spPr>
          <a:xfrm>
            <a:off x="4626864" y="2258568"/>
            <a:ext cx="1" cy="274320"/>
          </a:xfrm>
          <a:prstGeom prst="line">
            <a:avLst/>
          </a:prstGeom>
          <a:ln w="19050" cap="rnd">
            <a:solidFill>
              <a:srgbClr val="E6B86A"/>
            </a:solidFill>
            <a:prstDash val="solid"/>
            <a:headEnd type="none"/>
            <a:tailEnd type="triangle"/>
          </a:ln>
        </p:spPr>
      </p:cxnSp>
      <p:cxnSp>
        <p:nvCxnSpPr>
          <p:cNvPr id="22" name="Arrow 22"/>
          <p:cNvCxnSpPr/>
          <p:nvPr/>
        </p:nvCxnSpPr>
        <p:spPr>
          <a:xfrm>
            <a:off x="4626864" y="3035808"/>
            <a:ext cx="1" cy="274320"/>
          </a:xfrm>
          <a:prstGeom prst="line">
            <a:avLst/>
          </a:prstGeom>
          <a:ln w="19050" cap="rnd">
            <a:solidFill>
              <a:srgbClr val="E6B86A"/>
            </a:solidFill>
            <a:prstDash val="solid"/>
            <a:headEnd type="none"/>
            <a:tailEnd type="triangle"/>
          </a:ln>
        </p:spPr>
      </p:cxnSp>
      <p:cxnSp>
        <p:nvCxnSpPr>
          <p:cNvPr id="23" name="Arrow 23"/>
          <p:cNvCxnSpPr/>
          <p:nvPr/>
        </p:nvCxnSpPr>
        <p:spPr>
          <a:xfrm>
            <a:off x="7525512" y="2258568"/>
            <a:ext cx="1" cy="274320"/>
          </a:xfrm>
          <a:prstGeom prst="line">
            <a:avLst/>
          </a:prstGeom>
          <a:ln w="19050" cap="rnd">
            <a:solidFill>
              <a:srgbClr val="64C8C1"/>
            </a:solidFill>
            <a:prstDash val="solid"/>
            <a:headEnd type="none"/>
            <a:tailEnd type="triangle"/>
          </a:ln>
        </p:spPr>
      </p:cxnSp>
      <p:cxnSp>
        <p:nvCxnSpPr>
          <p:cNvPr id="24" name="Arrow 24"/>
          <p:cNvCxnSpPr/>
          <p:nvPr/>
        </p:nvCxnSpPr>
        <p:spPr>
          <a:xfrm>
            <a:off x="7525512" y="3813048"/>
            <a:ext cx="1" cy="274320"/>
          </a:xfrm>
          <a:prstGeom prst="line">
            <a:avLst/>
          </a:prstGeom>
          <a:ln w="19050" cap="rnd">
            <a:solidFill>
              <a:srgbClr val="64C8C1"/>
            </a:solidFill>
            <a:prstDash val="solid"/>
            <a:headEnd type="none"/>
            <a:tailEnd type="triangle"/>
          </a:ln>
        </p:spPr>
      </p:cxnSp>
      <p:cxnSp>
        <p:nvCxnSpPr>
          <p:cNvPr id="25" name="Arrow 25"/>
          <p:cNvCxnSpPr/>
          <p:nvPr/>
        </p:nvCxnSpPr>
        <p:spPr>
          <a:xfrm>
            <a:off x="7525512" y="4590288"/>
            <a:ext cx="1" cy="274320"/>
          </a:xfrm>
          <a:prstGeom prst="line">
            <a:avLst/>
          </a:prstGeom>
          <a:ln w="19050" cap="rnd">
            <a:solidFill>
              <a:srgbClr val="64C8C1"/>
            </a:solidFill>
            <a:prstDash val="solid"/>
            <a:headEnd type="none"/>
            <a:tailEnd type="triangle"/>
          </a:ln>
        </p:spPr>
      </p:cxnSp>
      <p:cxnSp>
        <p:nvCxnSpPr>
          <p:cNvPr id="26" name="Arrow 26"/>
          <p:cNvCxnSpPr/>
          <p:nvPr/>
        </p:nvCxnSpPr>
        <p:spPr>
          <a:xfrm flipV="1">
            <a:off x="10241280" y="2258568"/>
            <a:ext cx="1" cy="777240"/>
          </a:xfrm>
          <a:prstGeom prst="line">
            <a:avLst/>
          </a:prstGeom>
          <a:ln w="19050" cap="rnd">
            <a:solidFill>
              <a:srgbClr val="A88BEA"/>
            </a:solidFill>
            <a:prstDash val="solid"/>
            <a:headEnd type="none"/>
            <a:tailEnd type="triangle"/>
          </a:ln>
        </p:spPr>
      </p:cxnSp>
      <p:cxnSp>
        <p:nvCxnSpPr>
          <p:cNvPr id="27" name="Arrow 27"/>
          <p:cNvCxnSpPr/>
          <p:nvPr/>
        </p:nvCxnSpPr>
        <p:spPr>
          <a:xfrm>
            <a:off x="10241280" y="3813048"/>
            <a:ext cx="1" cy="274320"/>
          </a:xfrm>
          <a:prstGeom prst="line">
            <a:avLst/>
          </a:prstGeom>
          <a:ln w="19050" cap="rnd">
            <a:solidFill>
              <a:srgbClr val="A88BEA"/>
            </a:solidFill>
            <a:prstDash val="solid"/>
            <a:headEnd type="none"/>
            <a:tailEnd type="triangle"/>
          </a:ln>
        </p:spPr>
      </p:cxnSp>
      <p:sp>
        <p:nvSpPr>
          <p:cNvPr id="28" name="Shape 28"/>
          <p:cNvSpPr/>
          <p:nvPr/>
        </p:nvSpPr>
        <p:spPr>
          <a:xfrm>
            <a:off x="530352" y="1755648"/>
            <a:ext cx="2395728" cy="502920"/>
          </a:xfrm>
          <a:prstGeom prst="roundRect">
            <a:avLst/>
          </a:prstGeom>
          <a:solidFill>
            <a:srgbClr val="20354D"/>
          </a:solidFill>
          <a:ln w="12700">
            <a:solidFill>
              <a:srgbClr val="8DB9E8"/>
            </a:solidFill>
          </a:ln>
        </p:spPr>
        <p:txBody>
          <a:bodyPr wrap="square" lIns="91440" rIns="91440" tIns="38100" bIns="38100" anchor="ctr">
            <a:spAutoFit/>
          </a:bodyPr>
          <a:lstStyle/>
          <a:p>
            <a:pPr algn="ctr" marL="0" marR="0" lvl="0">
              <a:lnSpc>
                <a:spcPct val="100000"/>
              </a:lnSpc>
              <a:spcAft>
                <a:spcPts val="120"/>
              </a:spcAft>
              <a:buNone/>
            </a:pPr>
            <a:r>
              <a:rPr lang="en-US" sz="1100" b="0">
                <a:solidFill>
                  <a:srgbClr val="F7FAFF"/>
                </a:solidFill>
                <a:latin typeface="Aptos"/>
              </a:rPr>
              <a:t>Program</a:t>
            </a:r>
            <a:endParaRPr lang="en-US" sz="1100"/>
          </a:p>
          <a:p>
            <a:pPr algn="ctr" marL="0" marR="0" lvl="0">
              <a:lnSpc>
                <a:spcPct val="100000"/>
              </a:lnSpc>
              <a:spcAft>
                <a:spcPts val="120"/>
              </a:spcAft>
              <a:buNone/>
            </a:pPr>
            <a:r>
              <a:rPr lang="en-US" sz="800" b="0">
                <a:solidFill>
                  <a:srgbClr val="C3CEDD"/>
                </a:solidFill>
                <a:latin typeface="Aptos"/>
              </a:rPr>
              <a:t>Creates and runs Game</a:t>
            </a:r>
            <a:endParaRPr lang="en-US" sz="800"/>
          </a:p>
        </p:txBody>
      </p:sp>
      <p:sp>
        <p:nvSpPr>
          <p:cNvPr id="29" name="Shape 29"/>
          <p:cNvSpPr/>
          <p:nvPr/>
        </p:nvSpPr>
        <p:spPr>
          <a:xfrm>
            <a:off x="530352" y="2532888"/>
            <a:ext cx="2395728" cy="502920"/>
          </a:xfrm>
          <a:prstGeom prst="roundRect">
            <a:avLst/>
          </a:prstGeom>
          <a:solidFill>
            <a:srgbClr val="20354D"/>
          </a:solidFill>
          <a:ln w="12700">
            <a:solidFill>
              <a:srgbClr val="8DB9E8"/>
            </a:solidFill>
          </a:ln>
        </p:spPr>
        <p:txBody>
          <a:bodyPr wrap="square" lIns="91440" rIns="91440" tIns="38100" bIns="38100" anchor="ctr">
            <a:spAutoFit/>
          </a:bodyPr>
          <a:lstStyle/>
          <a:p>
            <a:pPr algn="ctr" marL="0" marR="0" lvl="0">
              <a:lnSpc>
                <a:spcPct val="100000"/>
              </a:lnSpc>
              <a:spcAft>
                <a:spcPts val="120"/>
              </a:spcAft>
              <a:buNone/>
            </a:pPr>
            <a:r>
              <a:rPr lang="en-US" sz="1100" b="0">
                <a:solidFill>
                  <a:srgbClr val="F7FAFF"/>
                </a:solidFill>
                <a:latin typeface="Aptos"/>
              </a:rPr>
              <a:t>Game</a:t>
            </a:r>
            <a:endParaRPr lang="en-US" sz="1100"/>
          </a:p>
          <a:p>
            <a:pPr algn="ctr" marL="0" marR="0" lvl="0">
              <a:lnSpc>
                <a:spcPct val="100000"/>
              </a:lnSpc>
              <a:spcAft>
                <a:spcPts val="120"/>
              </a:spcAft>
              <a:buNone/>
            </a:pPr>
            <a:r>
              <a:rPr lang="en-US" sz="800" b="0">
                <a:solidFill>
                  <a:srgbClr val="C3CEDD"/>
                </a:solidFill>
                <a:latin typeface="Aptos"/>
              </a:rPr>
              <a:t>Owns game flow and shared rules</a:t>
            </a:r>
            <a:endParaRPr lang="en-US" sz="800"/>
          </a:p>
        </p:txBody>
      </p:sp>
      <p:sp>
        <p:nvSpPr>
          <p:cNvPr id="30" name="Shape 30"/>
          <p:cNvSpPr/>
          <p:nvPr/>
        </p:nvSpPr>
        <p:spPr>
          <a:xfrm>
            <a:off x="530352" y="3310128"/>
            <a:ext cx="2395728" cy="502920"/>
          </a:xfrm>
          <a:prstGeom prst="roundRect">
            <a:avLst/>
          </a:prstGeom>
          <a:solidFill>
            <a:srgbClr val="173B4C"/>
          </a:solidFill>
          <a:ln w="12700">
            <a:solidFill>
              <a:srgbClr val="64C8C1"/>
            </a:solidFill>
          </a:ln>
        </p:spPr>
        <p:txBody>
          <a:bodyPr wrap="square" lIns="91440" rIns="91440" tIns="38100" bIns="38100" anchor="ctr">
            <a:spAutoFit/>
          </a:bodyPr>
          <a:lstStyle/>
          <a:p>
            <a:pPr algn="ctr" marL="0" marR="0" lvl="0">
              <a:lnSpc>
                <a:spcPct val="100000"/>
              </a:lnSpc>
              <a:spcAft>
                <a:spcPts val="120"/>
              </a:spcAft>
              <a:buNone/>
            </a:pPr>
            <a:r>
              <a:rPr lang="en-US" sz="1100" b="0">
                <a:solidFill>
                  <a:srgbClr val="F7FAFF"/>
                </a:solidFill>
                <a:latin typeface="Aptos"/>
              </a:rPr>
              <a:t>GameTableUI</a:t>
            </a:r>
            <a:endParaRPr lang="en-US" sz="1100"/>
          </a:p>
          <a:p>
            <a:pPr algn="ctr" marL="0" marR="0" lvl="0">
              <a:lnSpc>
                <a:spcPct val="100000"/>
              </a:lnSpc>
              <a:spcAft>
                <a:spcPts val="120"/>
              </a:spcAft>
              <a:buNone/>
            </a:pPr>
            <a:r>
              <a:rPr lang="en-US" sz="800" b="0">
                <a:solidFill>
                  <a:srgbClr val="C3CEDD"/>
                </a:solidFill>
                <a:latin typeface="Aptos"/>
              </a:rPr>
              <a:t>Handles live table interaction</a:t>
            </a:r>
            <a:endParaRPr lang="en-US" sz="800"/>
          </a:p>
        </p:txBody>
      </p:sp>
      <p:sp>
        <p:nvSpPr>
          <p:cNvPr id="31" name="Shape 31"/>
          <p:cNvSpPr/>
          <p:nvPr/>
        </p:nvSpPr>
        <p:spPr>
          <a:xfrm>
            <a:off x="530352" y="4087368"/>
            <a:ext cx="2395728" cy="502920"/>
          </a:xfrm>
          <a:prstGeom prst="roundRect">
            <a:avLst/>
          </a:prstGeom>
          <a:solidFill>
            <a:srgbClr val="173B4C"/>
          </a:solidFill>
          <a:ln w="12700">
            <a:solidFill>
              <a:srgbClr val="64C8C1"/>
            </a:solidFill>
          </a:ln>
        </p:spPr>
        <p:txBody>
          <a:bodyPr wrap="square" lIns="91440" rIns="91440" tIns="38100" bIns="38100" anchor="ctr">
            <a:spAutoFit/>
          </a:bodyPr>
          <a:lstStyle/>
          <a:p>
            <a:pPr algn="ctr" marL="0" marR="0" lvl="0">
              <a:lnSpc>
                <a:spcPct val="100000"/>
              </a:lnSpc>
              <a:spcAft>
                <a:spcPts val="120"/>
              </a:spcAft>
              <a:buNone/>
            </a:pPr>
            <a:r>
              <a:rPr lang="en-US" sz="1100" b="0">
                <a:solidFill>
                  <a:srgbClr val="F7FAFF"/>
                </a:solidFill>
                <a:latin typeface="Aptos"/>
              </a:rPr>
              <a:t>ConsoleUi</a:t>
            </a:r>
            <a:endParaRPr lang="en-US" sz="1100"/>
          </a:p>
          <a:p>
            <a:pPr algn="ctr" marL="0" marR="0" lvl="0">
              <a:lnSpc>
                <a:spcPct val="100000"/>
              </a:lnSpc>
              <a:spcAft>
                <a:spcPts val="120"/>
              </a:spcAft>
              <a:buNone/>
            </a:pPr>
            <a:r>
              <a:rPr lang="en-US" sz="800" b="0">
                <a:solidFill>
                  <a:srgbClr val="C3CEDD"/>
                </a:solidFill>
                <a:latin typeface="Aptos"/>
              </a:rPr>
              <a:t>Menus, prompts, and rendering</a:t>
            </a:r>
            <a:endParaRPr lang="en-US" sz="800"/>
          </a:p>
        </p:txBody>
      </p:sp>
      <p:sp>
        <p:nvSpPr>
          <p:cNvPr id="32" name="Shape 32"/>
          <p:cNvSpPr/>
          <p:nvPr/>
        </p:nvSpPr>
        <p:spPr>
          <a:xfrm>
            <a:off x="530352" y="4864608"/>
            <a:ext cx="2395728" cy="502920"/>
          </a:xfrm>
          <a:prstGeom prst="roundRect">
            <a:avLst/>
          </a:prstGeom>
          <a:solidFill>
            <a:srgbClr val="173B4C"/>
          </a:solidFill>
          <a:ln w="12700">
            <a:solidFill>
              <a:srgbClr val="64C8C1"/>
            </a:solidFill>
          </a:ln>
        </p:spPr>
        <p:txBody>
          <a:bodyPr wrap="square" lIns="91440" rIns="91440" tIns="38100" bIns="38100" anchor="ctr">
            <a:spAutoFit/>
          </a:bodyPr>
          <a:lstStyle/>
          <a:p>
            <a:pPr algn="ctr" marL="0" marR="0" lvl="0">
              <a:lnSpc>
                <a:spcPct val="100000"/>
              </a:lnSpc>
              <a:spcAft>
                <a:spcPts val="120"/>
              </a:spcAft>
              <a:buNone/>
            </a:pPr>
            <a:r>
              <a:rPr lang="en-US" sz="1000" b="0">
                <a:solidFill>
                  <a:srgbClr val="F7FAFF"/>
                </a:solidFill>
                <a:latin typeface="Aptos"/>
              </a:rPr>
              <a:t>PlayerSessionService</a:t>
            </a:r>
            <a:endParaRPr lang="en-US" sz="1000"/>
          </a:p>
          <a:p>
            <a:pPr algn="ctr" marL="0" marR="0" lvl="0">
              <a:lnSpc>
                <a:spcPct val="100000"/>
              </a:lnSpc>
              <a:spcAft>
                <a:spcPts val="120"/>
              </a:spcAft>
              <a:buNone/>
            </a:pPr>
            <a:r>
              <a:rPr lang="en-US" sz="800" b="0">
                <a:solidFill>
                  <a:srgbClr val="C3CEDD"/>
                </a:solidFill>
                <a:latin typeface="Aptos"/>
              </a:rPr>
              <a:t>Player lifecycle and persistence calls</a:t>
            </a:r>
            <a:endParaRPr lang="en-US" sz="800"/>
          </a:p>
        </p:txBody>
      </p:sp>
      <p:sp>
        <p:nvSpPr>
          <p:cNvPr id="33" name="Shape 33"/>
          <p:cNvSpPr/>
          <p:nvPr/>
        </p:nvSpPr>
        <p:spPr>
          <a:xfrm>
            <a:off x="530352" y="5641848"/>
            <a:ext cx="2395728" cy="502920"/>
          </a:xfrm>
          <a:prstGeom prst="roundRect">
            <a:avLst/>
          </a:prstGeom>
          <a:solidFill>
            <a:srgbClr val="173B4C"/>
          </a:solidFill>
          <a:ln w="12700">
            <a:solidFill>
              <a:srgbClr val="64C8C1"/>
            </a:solidFill>
          </a:ln>
        </p:spPr>
        <p:txBody>
          <a:bodyPr wrap="square" lIns="91440" rIns="91440" tIns="38100" bIns="38100" anchor="ctr">
            <a:spAutoFit/>
          </a:bodyPr>
          <a:lstStyle/>
          <a:p>
            <a:pPr algn="ctr" marL="0" marR="0" lvl="0">
              <a:lnSpc>
                <a:spcPct val="100000"/>
              </a:lnSpc>
              <a:spcAft>
                <a:spcPts val="120"/>
              </a:spcAft>
              <a:buNone/>
            </a:pPr>
            <a:r>
              <a:rPr lang="en-US" sz="1000" b="0">
                <a:solidFill>
                  <a:srgbClr val="F7FAFF"/>
                </a:solidFill>
                <a:latin typeface="Aptos"/>
              </a:rPr>
              <a:t>RoundResultFormatter</a:t>
            </a:r>
            <a:endParaRPr lang="en-US" sz="1000"/>
          </a:p>
          <a:p>
            <a:pPr algn="ctr" marL="0" marR="0" lvl="0">
              <a:lnSpc>
                <a:spcPct val="100000"/>
              </a:lnSpc>
              <a:spcAft>
                <a:spcPts val="120"/>
              </a:spcAft>
              <a:buNone/>
            </a:pPr>
            <a:r>
              <a:rPr lang="en-US" sz="800" b="0">
                <a:solidFill>
                  <a:srgbClr val="C3CEDD"/>
                </a:solidFill>
                <a:latin typeface="Aptos"/>
              </a:rPr>
              <a:t>Formats completed round results</a:t>
            </a:r>
            <a:endParaRPr lang="en-US" sz="800"/>
          </a:p>
        </p:txBody>
      </p:sp>
      <p:sp>
        <p:nvSpPr>
          <p:cNvPr id="34" name="Shape 34"/>
          <p:cNvSpPr/>
          <p:nvPr/>
        </p:nvSpPr>
        <p:spPr>
          <a:xfrm>
            <a:off x="3429000" y="1755648"/>
            <a:ext cx="2395728" cy="502920"/>
          </a:xfrm>
          <a:prstGeom prst="roundRect">
            <a:avLst/>
          </a:prstGeom>
          <a:solidFill>
            <a:srgbClr val="443720"/>
          </a:solidFill>
          <a:ln w="12700">
            <a:solidFill>
              <a:srgbClr val="E6B86A"/>
            </a:solidFill>
          </a:ln>
        </p:spPr>
        <p:txBody>
          <a:bodyPr wrap="square" lIns="91440" rIns="91440" tIns="38100" bIns="38100" anchor="ctr">
            <a:spAutoFit/>
          </a:bodyPr>
          <a:lstStyle/>
          <a:p>
            <a:pPr algn="ctr" marL="0" marR="0" lvl="0">
              <a:lnSpc>
                <a:spcPct val="100000"/>
              </a:lnSpc>
              <a:spcAft>
                <a:spcPts val="120"/>
              </a:spcAft>
              <a:buNone/>
            </a:pPr>
            <a:r>
              <a:rPr lang="en-US" sz="1100" b="0">
                <a:solidFill>
                  <a:srgbClr val="F7FAFF"/>
                </a:solidFill>
                <a:latin typeface="Aptos"/>
              </a:rPr>
              <a:t>Round</a:t>
            </a:r>
            <a:endParaRPr lang="en-US" sz="1100"/>
          </a:p>
          <a:p>
            <a:pPr algn="ctr" marL="0" marR="0" lvl="0">
              <a:lnSpc>
                <a:spcPct val="100000"/>
              </a:lnSpc>
              <a:spcAft>
                <a:spcPts val="120"/>
              </a:spcAft>
              <a:buNone/>
            </a:pPr>
            <a:r>
              <a:rPr lang="en-US" sz="800" b="0">
                <a:solidFill>
                  <a:srgbClr val="C3CEDD"/>
                </a:solidFill>
                <a:latin typeface="Aptos"/>
              </a:rPr>
              <a:t>Deals, resolves, and settles</a:t>
            </a:r>
            <a:endParaRPr lang="en-US" sz="800"/>
          </a:p>
        </p:txBody>
      </p:sp>
      <p:sp>
        <p:nvSpPr>
          <p:cNvPr id="35" name="Shape 35"/>
          <p:cNvSpPr/>
          <p:nvPr/>
        </p:nvSpPr>
        <p:spPr>
          <a:xfrm>
            <a:off x="3429000" y="2532888"/>
            <a:ext cx="2395728" cy="502920"/>
          </a:xfrm>
          <a:prstGeom prst="roundRect">
            <a:avLst/>
          </a:prstGeom>
          <a:solidFill>
            <a:srgbClr val="443720"/>
          </a:solidFill>
          <a:ln w="12700">
            <a:solidFill>
              <a:srgbClr val="E6B86A"/>
            </a:solidFill>
          </a:ln>
        </p:spPr>
        <p:txBody>
          <a:bodyPr wrap="square" lIns="91440" rIns="91440" tIns="38100" bIns="38100" anchor="ctr">
            <a:spAutoFit/>
          </a:bodyPr>
          <a:lstStyle/>
          <a:p>
            <a:pPr algn="ctr" marL="0" marR="0" lvl="0">
              <a:lnSpc>
                <a:spcPct val="100000"/>
              </a:lnSpc>
              <a:spcAft>
                <a:spcPts val="120"/>
              </a:spcAft>
              <a:buNone/>
            </a:pPr>
            <a:r>
              <a:rPr lang="en-US" sz="1100" b="0">
                <a:solidFill>
                  <a:srgbClr val="F7FAFF"/>
                </a:solidFill>
                <a:latin typeface="Aptos"/>
              </a:rPr>
              <a:t>Player</a:t>
            </a:r>
            <a:endParaRPr lang="en-US" sz="1100"/>
          </a:p>
          <a:p>
            <a:pPr algn="ctr" marL="0" marR="0" lvl="0">
              <a:lnSpc>
                <a:spcPct val="100000"/>
              </a:lnSpc>
              <a:spcAft>
                <a:spcPts val="120"/>
              </a:spcAft>
              <a:buNone/>
            </a:pPr>
            <a:r>
              <a:rPr lang="en-US" sz="800" b="0">
                <a:solidFill>
                  <a:srgbClr val="C3CEDD"/>
                </a:solidFill>
                <a:latin typeface="Aptos"/>
              </a:rPr>
              <a:t>Statistics and wallet access</a:t>
            </a:r>
            <a:endParaRPr lang="en-US" sz="800"/>
          </a:p>
        </p:txBody>
      </p:sp>
      <p:sp>
        <p:nvSpPr>
          <p:cNvPr id="36" name="Shape 36"/>
          <p:cNvSpPr/>
          <p:nvPr/>
        </p:nvSpPr>
        <p:spPr>
          <a:xfrm>
            <a:off x="3429000" y="3310128"/>
            <a:ext cx="2395728" cy="502920"/>
          </a:xfrm>
          <a:prstGeom prst="roundRect">
            <a:avLst/>
          </a:prstGeom>
          <a:solidFill>
            <a:srgbClr val="443720"/>
          </a:solidFill>
          <a:ln w="12700">
            <a:solidFill>
              <a:srgbClr val="E6B86A"/>
            </a:solidFill>
          </a:ln>
        </p:spPr>
        <p:txBody>
          <a:bodyPr wrap="square" lIns="91440" rIns="91440" tIns="38100" bIns="38100" anchor="ctr">
            <a:spAutoFit/>
          </a:bodyPr>
          <a:lstStyle/>
          <a:p>
            <a:pPr algn="ctr" marL="0" marR="0" lvl="0">
              <a:lnSpc>
                <a:spcPct val="100000"/>
              </a:lnSpc>
              <a:spcAft>
                <a:spcPts val="120"/>
              </a:spcAft>
              <a:buNone/>
            </a:pPr>
            <a:r>
              <a:rPr lang="en-US" sz="1100" b="0">
                <a:solidFill>
                  <a:srgbClr val="F7FAFF"/>
                </a:solidFill>
                <a:latin typeface="Aptos"/>
              </a:rPr>
              <a:t>Wallet</a:t>
            </a:r>
            <a:endParaRPr lang="en-US" sz="1100"/>
          </a:p>
          <a:p>
            <a:pPr algn="ctr" marL="0" marR="0" lvl="0">
              <a:lnSpc>
                <a:spcPct val="100000"/>
              </a:lnSpc>
              <a:spcAft>
                <a:spcPts val="120"/>
              </a:spcAft>
              <a:buNone/>
            </a:pPr>
            <a:r>
              <a:rPr lang="en-US" sz="800" b="0">
                <a:solidFill>
                  <a:srgbClr val="C3CEDD"/>
                </a:solidFill>
                <a:latin typeface="Aptos"/>
              </a:rPr>
              <a:t>Chips, bets, and insurance</a:t>
            </a:r>
            <a:endParaRPr lang="en-US" sz="800"/>
          </a:p>
        </p:txBody>
      </p:sp>
      <p:sp>
        <p:nvSpPr>
          <p:cNvPr id="37" name="Shape 37"/>
          <p:cNvSpPr/>
          <p:nvPr/>
        </p:nvSpPr>
        <p:spPr>
          <a:xfrm>
            <a:off x="3429000" y="4087368"/>
            <a:ext cx="2395728" cy="502920"/>
          </a:xfrm>
          <a:prstGeom prst="roundRect">
            <a:avLst/>
          </a:prstGeom>
          <a:solidFill>
            <a:srgbClr val="443720"/>
          </a:solidFill>
          <a:ln w="12700">
            <a:solidFill>
              <a:srgbClr val="E6B86A"/>
            </a:solidFill>
          </a:ln>
        </p:spPr>
        <p:txBody>
          <a:bodyPr wrap="square" lIns="91440" rIns="91440" tIns="38100" bIns="38100" anchor="ctr">
            <a:spAutoFit/>
          </a:bodyPr>
          <a:lstStyle/>
          <a:p>
            <a:pPr algn="ctr" marL="0" marR="0" lvl="0">
              <a:lnSpc>
                <a:spcPct val="100000"/>
              </a:lnSpc>
              <a:spcAft>
                <a:spcPts val="120"/>
              </a:spcAft>
              <a:buNone/>
            </a:pPr>
            <a:r>
              <a:rPr lang="en-US" sz="1100" b="0">
                <a:solidFill>
                  <a:srgbClr val="F7FAFF"/>
                </a:solidFill>
                <a:latin typeface="Aptos"/>
              </a:rPr>
              <a:t>Dealer</a:t>
            </a:r>
            <a:endParaRPr lang="en-US" sz="1100"/>
          </a:p>
          <a:p>
            <a:pPr algn="ctr" marL="0" marR="0" lvl="0">
              <a:lnSpc>
                <a:spcPct val="100000"/>
              </a:lnSpc>
              <a:spcAft>
                <a:spcPts val="120"/>
              </a:spcAft>
              <a:buNone/>
            </a:pPr>
            <a:r>
              <a:rPr lang="en-US" sz="800" b="0">
                <a:solidFill>
                  <a:srgbClr val="C3CEDD"/>
                </a:solidFill>
                <a:latin typeface="Aptos"/>
              </a:rPr>
              <a:t>Hit/stand policy from RuleSet</a:t>
            </a:r>
            <a:endParaRPr lang="en-US" sz="800"/>
          </a:p>
        </p:txBody>
      </p:sp>
      <p:sp>
        <p:nvSpPr>
          <p:cNvPr id="38" name="Shape 38"/>
          <p:cNvSpPr/>
          <p:nvPr/>
        </p:nvSpPr>
        <p:spPr>
          <a:xfrm>
            <a:off x="3429000" y="4864608"/>
            <a:ext cx="2395728" cy="502920"/>
          </a:xfrm>
          <a:prstGeom prst="roundRect">
            <a:avLst/>
          </a:prstGeom>
          <a:solidFill>
            <a:srgbClr val="443720"/>
          </a:solidFill>
          <a:ln w="12700">
            <a:solidFill>
              <a:srgbClr val="E6B86A"/>
            </a:solidFill>
          </a:ln>
        </p:spPr>
        <p:txBody>
          <a:bodyPr wrap="square" lIns="91440" rIns="91440" tIns="38100" bIns="38100" anchor="ctr">
            <a:spAutoFit/>
          </a:bodyPr>
          <a:lstStyle/>
          <a:p>
            <a:pPr algn="ctr" marL="0" marR="0" lvl="0">
              <a:lnSpc>
                <a:spcPct val="100000"/>
              </a:lnSpc>
              <a:spcAft>
                <a:spcPts val="120"/>
              </a:spcAft>
              <a:buNone/>
            </a:pPr>
            <a:r>
              <a:rPr lang="en-US" sz="1100" b="0">
                <a:solidFill>
                  <a:srgbClr val="F7FAFF"/>
                </a:solidFill>
                <a:latin typeface="Aptos"/>
              </a:rPr>
              <a:t>Participant</a:t>
            </a:r>
            <a:endParaRPr lang="en-US" sz="1100"/>
          </a:p>
          <a:p>
            <a:pPr algn="ctr" marL="0" marR="0" lvl="0">
              <a:lnSpc>
                <a:spcPct val="100000"/>
              </a:lnSpc>
              <a:spcAft>
                <a:spcPts val="120"/>
              </a:spcAft>
              <a:buNone/>
            </a:pPr>
            <a:r>
              <a:rPr lang="en-US" sz="800" b="0">
                <a:solidFill>
                  <a:srgbClr val="C3CEDD"/>
                </a:solidFill>
                <a:latin typeface="Aptos"/>
              </a:rPr>
              <a:t>Shared name, hand, and scoring</a:t>
            </a:r>
            <a:endParaRPr lang="en-US" sz="800"/>
          </a:p>
        </p:txBody>
      </p:sp>
      <p:sp>
        <p:nvSpPr>
          <p:cNvPr id="39" name="Shape 39"/>
          <p:cNvSpPr/>
          <p:nvPr/>
        </p:nvSpPr>
        <p:spPr>
          <a:xfrm>
            <a:off x="3429000" y="5641848"/>
            <a:ext cx="2395728" cy="502920"/>
          </a:xfrm>
          <a:prstGeom prst="roundRect">
            <a:avLst/>
          </a:prstGeom>
          <a:solidFill>
            <a:srgbClr val="443720"/>
          </a:solidFill>
          <a:ln w="12700">
            <a:solidFill>
              <a:srgbClr val="E6B86A"/>
            </a:solidFill>
          </a:ln>
        </p:spPr>
        <p:txBody>
          <a:bodyPr wrap="square" lIns="91440" rIns="91440" tIns="38100" bIns="38100" anchor="ctr">
            <a:spAutoFit/>
          </a:bodyPr>
          <a:lstStyle/>
          <a:p>
            <a:pPr algn="ctr" marL="0" marR="0" lvl="0">
              <a:lnSpc>
                <a:spcPct val="100000"/>
              </a:lnSpc>
              <a:spcAft>
                <a:spcPts val="120"/>
              </a:spcAft>
              <a:buNone/>
            </a:pPr>
            <a:r>
              <a:rPr lang="en-US" sz="1100" b="0">
                <a:solidFill>
                  <a:srgbClr val="F7FAFF"/>
                </a:solidFill>
                <a:latin typeface="Aptos"/>
              </a:rPr>
              <a:t>Outcome</a:t>
            </a:r>
            <a:endParaRPr lang="en-US" sz="1100"/>
          </a:p>
          <a:p>
            <a:pPr algn="ctr" marL="0" marR="0" lvl="0">
              <a:lnSpc>
                <a:spcPct val="100000"/>
              </a:lnSpc>
              <a:spcAft>
                <a:spcPts val="120"/>
              </a:spcAft>
              <a:buNone/>
            </a:pPr>
            <a:r>
              <a:rPr lang="en-US" sz="800" b="0">
                <a:solidFill>
                  <a:srgbClr val="C3CEDD"/>
                </a:solidFill>
                <a:latin typeface="Aptos"/>
              </a:rPr>
              <a:t>Win, loss, push, or blackjack</a:t>
            </a:r>
            <a:endParaRPr lang="en-US" sz="800"/>
          </a:p>
        </p:txBody>
      </p:sp>
      <p:sp>
        <p:nvSpPr>
          <p:cNvPr id="40" name="Shape 40"/>
          <p:cNvSpPr/>
          <p:nvPr/>
        </p:nvSpPr>
        <p:spPr>
          <a:xfrm>
            <a:off x="6327648" y="1755648"/>
            <a:ext cx="2395728" cy="502920"/>
          </a:xfrm>
          <a:prstGeom prst="roundRect">
            <a:avLst/>
          </a:prstGeom>
          <a:solidFill>
            <a:srgbClr val="1E3B35"/>
          </a:solidFill>
          <a:ln w="12700">
            <a:solidFill>
              <a:srgbClr val="64C8C1"/>
            </a:solidFill>
          </a:ln>
        </p:spPr>
        <p:txBody>
          <a:bodyPr wrap="square" lIns="91440" rIns="91440" tIns="38100" bIns="38100" anchor="ctr">
            <a:spAutoFit/>
          </a:bodyPr>
          <a:lstStyle/>
          <a:p>
            <a:pPr algn="ctr" marL="0" marR="0" lvl="0">
              <a:lnSpc>
                <a:spcPct val="100000"/>
              </a:lnSpc>
              <a:spcAft>
                <a:spcPts val="120"/>
              </a:spcAft>
              <a:buNone/>
            </a:pPr>
            <a:r>
              <a:rPr lang="en-US" sz="1100" b="0">
                <a:solidFill>
                  <a:srgbClr val="F7FAFF"/>
                </a:solidFill>
                <a:latin typeface="Aptos"/>
              </a:rPr>
              <a:t>Deck</a:t>
            </a:r>
            <a:endParaRPr lang="en-US" sz="1100"/>
          </a:p>
          <a:p>
            <a:pPr algn="ctr" marL="0" marR="0" lvl="0">
              <a:lnSpc>
                <a:spcPct val="100000"/>
              </a:lnSpc>
              <a:spcAft>
                <a:spcPts val="120"/>
              </a:spcAft>
              <a:buNone/>
            </a:pPr>
            <a:r>
              <a:rPr lang="en-US" sz="800" b="0">
                <a:solidFill>
                  <a:srgbClr val="C3CEDD"/>
                </a:solidFill>
                <a:latin typeface="Aptos"/>
              </a:rPr>
              <a:t>Builds, shuffles, and deals cards</a:t>
            </a:r>
            <a:endParaRPr lang="en-US" sz="800"/>
          </a:p>
        </p:txBody>
      </p:sp>
      <p:sp>
        <p:nvSpPr>
          <p:cNvPr id="41" name="Shape 41"/>
          <p:cNvSpPr/>
          <p:nvPr/>
        </p:nvSpPr>
        <p:spPr>
          <a:xfrm>
            <a:off x="6327648" y="2532888"/>
            <a:ext cx="2395728" cy="502920"/>
          </a:xfrm>
          <a:prstGeom prst="roundRect">
            <a:avLst/>
          </a:prstGeom>
          <a:solidFill>
            <a:srgbClr val="1E3B35"/>
          </a:solidFill>
          <a:ln w="12700">
            <a:solidFill>
              <a:srgbClr val="64C8C1"/>
            </a:solidFill>
          </a:ln>
        </p:spPr>
        <p:txBody>
          <a:bodyPr wrap="square" lIns="91440" rIns="91440" tIns="38100" bIns="38100" anchor="ctr">
            <a:spAutoFit/>
          </a:bodyPr>
          <a:lstStyle/>
          <a:p>
            <a:pPr algn="ctr" marL="0" marR="0" lvl="0">
              <a:lnSpc>
                <a:spcPct val="100000"/>
              </a:lnSpc>
              <a:spcAft>
                <a:spcPts val="120"/>
              </a:spcAft>
              <a:buNone/>
            </a:pPr>
            <a:r>
              <a:rPr lang="en-US" sz="1100" b="0">
                <a:solidFill>
                  <a:srgbClr val="F7FAFF"/>
                </a:solidFill>
                <a:latin typeface="Aptos"/>
              </a:rPr>
              <a:t>CardCounter</a:t>
            </a:r>
            <a:endParaRPr lang="en-US" sz="1100"/>
          </a:p>
          <a:p>
            <a:pPr algn="ctr" marL="0" marR="0" lvl="0">
              <a:lnSpc>
                <a:spcPct val="100000"/>
              </a:lnSpc>
              <a:spcAft>
                <a:spcPts val="120"/>
              </a:spcAft>
              <a:buNone/>
            </a:pPr>
            <a:r>
              <a:rPr lang="en-US" sz="800" b="0">
                <a:solidFill>
                  <a:srgbClr val="C3CEDD"/>
                </a:solidFill>
                <a:latin typeface="Aptos"/>
              </a:rPr>
              <a:t>Running and true counts</a:t>
            </a:r>
            <a:endParaRPr lang="en-US" sz="800"/>
          </a:p>
        </p:txBody>
      </p:sp>
      <p:sp>
        <p:nvSpPr>
          <p:cNvPr id="42" name="Shape 42"/>
          <p:cNvSpPr/>
          <p:nvPr/>
        </p:nvSpPr>
        <p:spPr>
          <a:xfrm>
            <a:off x="6327648" y="3310128"/>
            <a:ext cx="2395728" cy="502920"/>
          </a:xfrm>
          <a:prstGeom prst="roundRect">
            <a:avLst/>
          </a:prstGeom>
          <a:solidFill>
            <a:srgbClr val="1E3B35"/>
          </a:solidFill>
          <a:ln w="12700">
            <a:solidFill>
              <a:srgbClr val="64C8C1"/>
            </a:solidFill>
          </a:ln>
        </p:spPr>
        <p:txBody>
          <a:bodyPr wrap="square" lIns="91440" rIns="91440" tIns="38100" bIns="38100" anchor="ctr">
            <a:spAutoFit/>
          </a:bodyPr>
          <a:lstStyle/>
          <a:p>
            <a:pPr algn="ctr" marL="0" marR="0" lvl="0">
              <a:lnSpc>
                <a:spcPct val="100000"/>
              </a:lnSpc>
              <a:spcAft>
                <a:spcPts val="120"/>
              </a:spcAft>
              <a:buNone/>
            </a:pPr>
            <a:r>
              <a:rPr lang="en-US" sz="1000" b="0">
                <a:solidFill>
                  <a:srgbClr val="F7FAFF"/>
                </a:solidFill>
                <a:latin typeface="Aptos"/>
              </a:rPr>
              <a:t>Hand</a:t>
            </a:r>
            <a:endParaRPr lang="en-US" sz="1000"/>
          </a:p>
          <a:p>
            <a:pPr algn="ctr" marL="0" marR="0" lvl="0">
              <a:lnSpc>
                <a:spcPct val="100000"/>
              </a:lnSpc>
              <a:spcAft>
                <a:spcPts val="120"/>
              </a:spcAft>
              <a:buNone/>
            </a:pPr>
            <a:r>
              <a:rPr lang="en-US" sz="800" b="0">
                <a:solidFill>
                  <a:srgbClr val="C3CEDD"/>
                </a:solidFill>
                <a:latin typeface="Aptos"/>
              </a:rPr>
              <a:t>Holds cards; calculates score/softness</a:t>
            </a:r>
            <a:endParaRPr lang="en-US" sz="800"/>
          </a:p>
        </p:txBody>
      </p:sp>
      <p:sp>
        <p:nvSpPr>
          <p:cNvPr id="43" name="Shape 43"/>
          <p:cNvSpPr/>
          <p:nvPr/>
        </p:nvSpPr>
        <p:spPr>
          <a:xfrm>
            <a:off x="6327648" y="4087368"/>
            <a:ext cx="2395728" cy="502920"/>
          </a:xfrm>
          <a:prstGeom prst="roundRect">
            <a:avLst/>
          </a:prstGeom>
          <a:solidFill>
            <a:srgbClr val="1E3B35"/>
          </a:solidFill>
          <a:ln w="12700">
            <a:solidFill>
              <a:srgbClr val="64C8C1"/>
            </a:solidFill>
          </a:ln>
        </p:spPr>
        <p:txBody>
          <a:bodyPr wrap="square" lIns="91440" rIns="91440" tIns="38100" bIns="38100" anchor="ctr">
            <a:spAutoFit/>
          </a:bodyPr>
          <a:lstStyle/>
          <a:p>
            <a:pPr algn="ctr" marL="0" marR="0" lvl="0">
              <a:lnSpc>
                <a:spcPct val="100000"/>
              </a:lnSpc>
              <a:spcAft>
                <a:spcPts val="120"/>
              </a:spcAft>
              <a:buNone/>
            </a:pPr>
            <a:r>
              <a:rPr lang="en-US" sz="1100" b="0">
                <a:solidFill>
                  <a:srgbClr val="F7FAFF"/>
                </a:solidFill>
                <a:latin typeface="Aptos"/>
              </a:rPr>
              <a:t>Card</a:t>
            </a:r>
            <a:endParaRPr lang="en-US" sz="1100"/>
          </a:p>
          <a:p>
            <a:pPr algn="ctr" marL="0" marR="0" lvl="0">
              <a:lnSpc>
                <a:spcPct val="100000"/>
              </a:lnSpc>
              <a:spcAft>
                <a:spcPts val="120"/>
              </a:spcAft>
              <a:buNone/>
            </a:pPr>
            <a:r>
              <a:rPr lang="en-US" sz="800" b="0">
                <a:solidFill>
                  <a:srgbClr val="C3CEDD"/>
                </a:solidFill>
                <a:latin typeface="Aptos"/>
              </a:rPr>
              <a:t>Suit, rank, and base value</a:t>
            </a:r>
            <a:endParaRPr lang="en-US" sz="800"/>
          </a:p>
        </p:txBody>
      </p:sp>
      <p:sp>
        <p:nvSpPr>
          <p:cNvPr id="44" name="Shape 44"/>
          <p:cNvSpPr/>
          <p:nvPr/>
        </p:nvSpPr>
        <p:spPr>
          <a:xfrm>
            <a:off x="6327648" y="4864608"/>
            <a:ext cx="2395728" cy="502920"/>
          </a:xfrm>
          <a:prstGeom prst="roundRect">
            <a:avLst/>
          </a:prstGeom>
          <a:solidFill>
            <a:srgbClr val="1E3B35"/>
          </a:solidFill>
          <a:ln w="12700">
            <a:solidFill>
              <a:srgbClr val="64C8C1"/>
            </a:solidFill>
          </a:ln>
        </p:spPr>
        <p:txBody>
          <a:bodyPr wrap="square" lIns="91440" rIns="91440" tIns="38100" bIns="38100" anchor="ctr">
            <a:spAutoFit/>
          </a:bodyPr>
          <a:lstStyle/>
          <a:p>
            <a:pPr algn="ctr" marL="0" marR="0" lvl="0">
              <a:lnSpc>
                <a:spcPct val="100000"/>
              </a:lnSpc>
              <a:spcAft>
                <a:spcPts val="120"/>
              </a:spcAft>
              <a:buNone/>
            </a:pPr>
            <a:r>
              <a:rPr lang="en-US" sz="1100" b="0">
                <a:solidFill>
                  <a:srgbClr val="F7FAFF"/>
                </a:solidFill>
                <a:latin typeface="Aptos"/>
              </a:rPr>
              <a:t>Suit + Rank</a:t>
            </a:r>
            <a:endParaRPr lang="en-US" sz="1100"/>
          </a:p>
          <a:p>
            <a:pPr algn="ctr" marL="0" marR="0" lvl="0">
              <a:lnSpc>
                <a:spcPct val="100000"/>
              </a:lnSpc>
              <a:spcAft>
                <a:spcPts val="120"/>
              </a:spcAft>
              <a:buNone/>
            </a:pPr>
            <a:r>
              <a:rPr lang="en-US" sz="800" b="0">
                <a:solidFill>
                  <a:srgbClr val="C3CEDD"/>
                </a:solidFill>
                <a:latin typeface="Aptos"/>
              </a:rPr>
              <a:t>Card enumerations</a:t>
            </a:r>
            <a:endParaRPr lang="en-US" sz="800"/>
          </a:p>
        </p:txBody>
      </p:sp>
      <p:sp>
        <p:nvSpPr>
          <p:cNvPr id="45" name="Shape 45"/>
          <p:cNvSpPr/>
          <p:nvPr/>
        </p:nvSpPr>
        <p:spPr>
          <a:xfrm>
            <a:off x="6327648" y="5641848"/>
            <a:ext cx="2395728" cy="502920"/>
          </a:xfrm>
          <a:prstGeom prst="roundRect">
            <a:avLst/>
          </a:prstGeom>
          <a:solidFill>
            <a:srgbClr val="1E3B35"/>
          </a:solidFill>
          <a:ln w="12700">
            <a:solidFill>
              <a:srgbClr val="64C8C1"/>
            </a:solidFill>
          </a:ln>
        </p:spPr>
        <p:txBody>
          <a:bodyPr wrap="square" lIns="91440" rIns="91440" tIns="38100" bIns="38100" anchor="ctr">
            <a:spAutoFit/>
          </a:bodyPr>
          <a:lstStyle/>
          <a:p>
            <a:pPr algn="ctr" marL="0" marR="0" lvl="0">
              <a:lnSpc>
                <a:spcPct val="100000"/>
              </a:lnSpc>
              <a:spcAft>
                <a:spcPts val="120"/>
              </a:spcAft>
              <a:buNone/>
            </a:pPr>
            <a:r>
              <a:rPr lang="en-US" sz="1000" b="0">
                <a:solidFill>
                  <a:srgbClr val="F7FAFF"/>
                </a:solidFill>
                <a:latin typeface="Aptos"/>
              </a:rPr>
              <a:t>VisibleCardCounter</a:t>
            </a:r>
            <a:endParaRPr lang="en-US" sz="1000"/>
          </a:p>
          <a:p>
            <a:pPr algn="ctr" marL="0" marR="0" lvl="0">
              <a:lnSpc>
                <a:spcPct val="100000"/>
              </a:lnSpc>
              <a:spcAft>
                <a:spcPts val="120"/>
              </a:spcAft>
              <a:buNone/>
            </a:pPr>
            <a:r>
              <a:rPr lang="en-US" sz="800" b="0">
                <a:solidFill>
                  <a:srgbClr val="C3CEDD"/>
                </a:solidFill>
                <a:latin typeface="Aptos"/>
              </a:rPr>
              <a:t>Counts cards visible at the table</a:t>
            </a:r>
            <a:endParaRPr lang="en-US" sz="800"/>
          </a:p>
        </p:txBody>
      </p:sp>
      <p:sp>
        <p:nvSpPr>
          <p:cNvPr id="46" name="Shape 46"/>
          <p:cNvSpPr/>
          <p:nvPr/>
        </p:nvSpPr>
        <p:spPr>
          <a:xfrm>
            <a:off x="9226296" y="1755648"/>
            <a:ext cx="2395728" cy="502920"/>
          </a:xfrm>
          <a:prstGeom prst="roundRect">
            <a:avLst/>
          </a:prstGeom>
          <a:solidFill>
            <a:srgbClr val="302A45"/>
          </a:solidFill>
          <a:ln w="12700">
            <a:solidFill>
              <a:srgbClr val="A88BEA"/>
            </a:solidFill>
          </a:ln>
        </p:spPr>
        <p:txBody>
          <a:bodyPr wrap="square" lIns="91440" rIns="91440" tIns="38100" bIns="38100" anchor="ctr">
            <a:spAutoFit/>
          </a:bodyPr>
          <a:lstStyle/>
          <a:p>
            <a:pPr algn="ctr" marL="0" marR="0" lvl="0">
              <a:lnSpc>
                <a:spcPct val="100000"/>
              </a:lnSpc>
              <a:spcAft>
                <a:spcPts val="120"/>
              </a:spcAft>
              <a:buNone/>
            </a:pPr>
            <a:r>
              <a:rPr lang="en-US" sz="1100" b="0">
                <a:solidFill>
                  <a:srgbClr val="F7FAFF"/>
                </a:solidFill>
                <a:latin typeface="Aptos"/>
              </a:rPr>
              <a:t>RuleSet</a:t>
            </a:r>
            <a:endParaRPr lang="en-US" sz="1100"/>
          </a:p>
          <a:p>
            <a:pPr algn="ctr" marL="0" marR="0" lvl="0">
              <a:lnSpc>
                <a:spcPct val="100000"/>
              </a:lnSpc>
              <a:spcAft>
                <a:spcPts val="120"/>
              </a:spcAft>
              <a:buNone/>
            </a:pPr>
            <a:r>
              <a:rPr lang="en-US" sz="800" b="0">
                <a:solidFill>
                  <a:srgbClr val="C3CEDD"/>
                </a:solidFill>
                <a:latin typeface="Aptos"/>
              </a:rPr>
              <a:t>Loads and validates house rules</a:t>
            </a:r>
            <a:endParaRPr lang="en-US" sz="800"/>
          </a:p>
        </p:txBody>
      </p:sp>
      <p:sp>
        <p:nvSpPr>
          <p:cNvPr id="47" name="Shape 47"/>
          <p:cNvSpPr/>
          <p:nvPr/>
        </p:nvSpPr>
        <p:spPr>
          <a:xfrm>
            <a:off x="9226296" y="2532888"/>
            <a:ext cx="2395728" cy="502920"/>
          </a:xfrm>
          <a:prstGeom prst="roundRect">
            <a:avLst/>
          </a:prstGeom>
          <a:solidFill>
            <a:srgbClr val="302A45"/>
          </a:solidFill>
          <a:ln w="12700">
            <a:solidFill>
              <a:srgbClr val="A88BEA"/>
            </a:solidFill>
          </a:ln>
        </p:spPr>
        <p:txBody>
          <a:bodyPr wrap="square" lIns="91440" rIns="91440" tIns="38100" bIns="38100" anchor="ctr">
            <a:spAutoFit/>
          </a:bodyPr>
          <a:lstStyle/>
          <a:p>
            <a:pPr algn="ctr" marL="0" marR="0" lvl="0">
              <a:lnSpc>
                <a:spcPct val="100000"/>
              </a:lnSpc>
              <a:spcAft>
                <a:spcPts val="120"/>
              </a:spcAft>
              <a:buNone/>
            </a:pPr>
            <a:r>
              <a:rPr lang="en-US" sz="900" b="0">
                <a:solidFill>
                  <a:srgbClr val="F7FAFF"/>
                </a:solidFill>
                <a:latin typeface="Aptos"/>
              </a:rPr>
              <a:t>blackjack-rules.json</a:t>
            </a:r>
            <a:endParaRPr lang="en-US" sz="900"/>
          </a:p>
          <a:p>
            <a:pPr algn="ctr" marL="0" marR="0" lvl="0">
              <a:lnSpc>
                <a:spcPct val="100000"/>
              </a:lnSpc>
              <a:spcAft>
                <a:spcPts val="120"/>
              </a:spcAft>
              <a:buNone/>
            </a:pPr>
            <a:r>
              <a:rPr lang="en-US" sz="800" b="0">
                <a:solidFill>
                  <a:srgbClr val="C3CEDD"/>
                </a:solidFill>
                <a:latin typeface="Aptos"/>
              </a:rPr>
              <a:t>Rule configuration</a:t>
            </a:r>
            <a:endParaRPr lang="en-US" sz="800"/>
          </a:p>
        </p:txBody>
      </p:sp>
      <p:sp>
        <p:nvSpPr>
          <p:cNvPr id="48" name="Shape 48"/>
          <p:cNvSpPr/>
          <p:nvPr/>
        </p:nvSpPr>
        <p:spPr>
          <a:xfrm>
            <a:off x="9226296" y="3310128"/>
            <a:ext cx="2395728" cy="502920"/>
          </a:xfrm>
          <a:prstGeom prst="roundRect">
            <a:avLst/>
          </a:prstGeom>
          <a:solidFill>
            <a:srgbClr val="302A45"/>
          </a:solidFill>
          <a:ln w="12700">
            <a:solidFill>
              <a:srgbClr val="A88BEA"/>
            </a:solidFill>
          </a:ln>
        </p:spPr>
        <p:txBody>
          <a:bodyPr wrap="square" lIns="91440" rIns="91440" tIns="38100" bIns="38100" anchor="ctr">
            <a:spAutoFit/>
          </a:bodyPr>
          <a:lstStyle/>
          <a:p>
            <a:pPr algn="ctr" marL="0" marR="0" lvl="0">
              <a:lnSpc>
                <a:spcPct val="100000"/>
              </a:lnSpc>
              <a:spcAft>
                <a:spcPts val="120"/>
              </a:spcAft>
              <a:buNone/>
            </a:pPr>
            <a:r>
              <a:rPr lang="en-US" sz="1000" b="0">
                <a:solidFill>
                  <a:srgbClr val="F7FAFF"/>
                </a:solidFill>
                <a:latin typeface="Aptos"/>
              </a:rPr>
              <a:t>GameStorage</a:t>
            </a:r>
            <a:endParaRPr lang="en-US" sz="1000"/>
          </a:p>
          <a:p>
            <a:pPr algn="ctr" marL="0" marR="0" lvl="0">
              <a:lnSpc>
                <a:spcPct val="100000"/>
              </a:lnSpc>
              <a:spcAft>
                <a:spcPts val="120"/>
              </a:spcAft>
              <a:buNone/>
            </a:pPr>
            <a:r>
              <a:rPr lang="en-US" sz="800" b="0">
                <a:solidFill>
                  <a:srgbClr val="C3CEDD"/>
                </a:solidFill>
                <a:latin typeface="Aptos"/>
              </a:rPr>
              <a:t>JSON stats + readable TXT report</a:t>
            </a:r>
            <a:endParaRPr lang="en-US" sz="800"/>
          </a:p>
        </p:txBody>
      </p:sp>
      <p:sp>
        <p:nvSpPr>
          <p:cNvPr id="49" name="Shape 49"/>
          <p:cNvSpPr/>
          <p:nvPr/>
        </p:nvSpPr>
        <p:spPr>
          <a:xfrm>
            <a:off x="9226296" y="4087368"/>
            <a:ext cx="2395728" cy="502920"/>
          </a:xfrm>
          <a:prstGeom prst="roundRect">
            <a:avLst/>
          </a:prstGeom>
          <a:solidFill>
            <a:srgbClr val="302A45"/>
          </a:solidFill>
          <a:ln w="12700">
            <a:solidFill>
              <a:srgbClr val="A88BEA"/>
            </a:solidFill>
          </a:ln>
        </p:spPr>
        <p:txBody>
          <a:bodyPr wrap="square" lIns="91440" rIns="91440" tIns="38100" bIns="38100" anchor="ctr">
            <a:spAutoFit/>
          </a:bodyPr>
          <a:lstStyle/>
          <a:p>
            <a:pPr algn="ctr" marL="0" marR="0" lvl="0">
              <a:lnSpc>
                <a:spcPct val="100000"/>
              </a:lnSpc>
              <a:spcAft>
                <a:spcPts val="120"/>
              </a:spcAft>
              <a:buNone/>
            </a:pPr>
            <a:r>
              <a:rPr lang="en-US" sz="1100" b="0">
                <a:solidFill>
                  <a:srgbClr val="F7FAFF"/>
                </a:solidFill>
                <a:latin typeface="Aptos"/>
              </a:rPr>
              <a:t>PlayerStatistics</a:t>
            </a:r>
            <a:endParaRPr lang="en-US" sz="1100"/>
          </a:p>
          <a:p>
            <a:pPr algn="ctr" marL="0" marR="0" lvl="0">
              <a:lnSpc>
                <a:spcPct val="100000"/>
              </a:lnSpc>
              <a:spcAft>
                <a:spcPts val="120"/>
              </a:spcAft>
              <a:buNone/>
            </a:pPr>
            <a:r>
              <a:rPr lang="en-US" sz="800" b="0">
                <a:solidFill>
                  <a:srgbClr val="C3CEDD"/>
                </a:solidFill>
                <a:latin typeface="Aptos"/>
              </a:rPr>
              <a:t>Wins, losses, pushes, chips</a:t>
            </a:r>
            <a:endParaRPr lang="en-US" sz="800"/>
          </a:p>
        </p:txBody>
      </p:sp>
      <p:sp>
        <p:nvSpPr>
          <p:cNvPr id="50" name="Shape 50"/>
          <p:cNvSpPr/>
          <p:nvPr/>
        </p:nvSpPr>
        <p:spPr>
          <a:xfrm>
            <a:off x="9226296" y="4864608"/>
            <a:ext cx="2395728" cy="502920"/>
          </a:xfrm>
          <a:prstGeom prst="roundRect">
            <a:avLst/>
          </a:prstGeom>
          <a:solidFill>
            <a:srgbClr val="302A45"/>
          </a:solidFill>
          <a:ln w="12700">
            <a:solidFill>
              <a:srgbClr val="A88BEA"/>
            </a:solidFill>
          </a:ln>
        </p:spPr>
        <p:txBody>
          <a:bodyPr wrap="square" lIns="91440" rIns="91440" tIns="38100" bIns="38100" anchor="ctr">
            <a:spAutoFit/>
          </a:bodyPr>
          <a:lstStyle/>
          <a:p>
            <a:pPr algn="ctr" marL="0" marR="0" lvl="0">
              <a:lnSpc>
                <a:spcPct val="100000"/>
              </a:lnSpc>
              <a:spcAft>
                <a:spcPts val="120"/>
              </a:spcAft>
              <a:buNone/>
            </a:pPr>
            <a:r>
              <a:rPr lang="en-US" sz="900" b="0">
                <a:solidFill>
                  <a:srgbClr val="F7FAFF"/>
                </a:solidFill>
                <a:latin typeface="Aptos"/>
              </a:rPr>
              <a:t>player-results.json / .txt</a:t>
            </a:r>
            <a:endParaRPr lang="en-US" sz="900"/>
          </a:p>
          <a:p>
            <a:pPr algn="ctr" marL="0" marR="0" lvl="0">
              <a:lnSpc>
                <a:spcPct val="100000"/>
              </a:lnSpc>
              <a:spcAft>
                <a:spcPts val="120"/>
              </a:spcAft>
              <a:buNone/>
            </a:pPr>
            <a:r>
              <a:rPr lang="en-US" sz="800" b="0">
                <a:solidFill>
                  <a:srgbClr val="C3CEDD"/>
                </a:solidFill>
                <a:latin typeface="Aptos"/>
              </a:rPr>
              <a:t>Saved statistics and report</a:t>
            </a:r>
            <a:endParaRPr lang="en-US" sz="800"/>
          </a:p>
        </p:txBody>
      </p:sp>
      <p:sp>
        <p:nvSpPr>
          <p:cNvPr id="51" name="Shape 51"/>
          <p:cNvSpPr/>
          <p:nvPr/>
        </p:nvSpPr>
        <p:spPr>
          <a:xfrm>
            <a:off x="438912" y="6556248"/>
            <a:ext cx="11247120" cy="164592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38100" bIns="38100" anchor="ctr">
            <a:spAutoFit/>
          </a:bodyPr>
          <a:lstStyle/>
          <a:p>
            <a:pPr algn="l" marL="0" marR="0" lvl="0">
              <a:lnSpc>
                <a:spcPct val="100000"/>
              </a:lnSpc>
              <a:spcAft>
                <a:spcPts val="120"/>
              </a:spcAft>
              <a:buNone/>
            </a:pPr>
            <a:r>
              <a:rPr lang="en-US" sz="800" b="0">
                <a:solidFill>
                  <a:srgbClr val="A8B6CC"/>
                </a:solidFill>
                <a:latin typeface="Aptos"/>
              </a:rPr>
              <a:t>Game uses RuleSet; PlayerSessionService persists through GameStorage. Player and Dealer derive from Participant; Player owns Wallet; Participants own Hand.</a:t>
            </a:r>
            <a:endParaRPr lang="en-US" sz="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ackjack">
  <a:themeElements>
    <a:clrScheme name="Blackjack">
      <a:dk1>
        <a:srgbClr val="0B1422"/>
      </a:dk1>
      <a:lt1>
        <a:srgbClr val="F7FAFF"/>
      </a:lt1>
      <a:dk2>
        <a:srgbClr val="10263A"/>
      </a:dk2>
      <a:lt2>
        <a:srgbClr val="A8B6CC"/>
      </a:lt2>
      <a:accent1>
        <a:srgbClr val="8DB9E8"/>
      </a:accent1>
      <a:accent2>
        <a:srgbClr val="64C8C1"/>
      </a:accent2>
      <a:accent3>
        <a:srgbClr val="E6B86A"/>
      </a:accent3>
      <a:accent4>
        <a:srgbClr val="A88BEA"/>
      </a:accent4>
      <a:accent5>
        <a:srgbClr val="E68A7A"/>
      </a:accent5>
      <a:accent6>
        <a:srgbClr val="8CCB8C"/>
      </a:accent6>
      <a:hlink>
        <a:srgbClr val="8DB9E8"/>
      </a:hlink>
      <a:folHlink>
        <a:srgbClr val="A88BEA"/>
      </a:folHlink>
    </a:clrScheme>
    <a:fontScheme name="Aptos">
      <a:majorFont>
        <a:latin typeface="Aptos Display"/>
      </a:majorFont>
      <a:minorFont>
        <a:latin typeface="Aptos"/>
      </a:minorFont>
    </a:fontScheme>
    <a:fmtScheme name="Office">
      <a:fillStyleLst>
        <a:solidFill>
          <a:schemeClr val="phClr"/>
        </a:solidFill>
      </a:fillStyleLst>
      <a:lnStyleLst>
        <a:ln w="6350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